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4" r:id="rId10"/>
    <p:sldId id="270" r:id="rId11"/>
    <p:sldId id="26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1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3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4" Type="http://schemas.openxmlformats.org/officeDocument/2006/relationships/image" Target="../media/image9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27A2188-A8AC-4180-85F7-B5EF58FCC425}" type="doc">
      <dgm:prSet loTypeId="urn:microsoft.com/office/officeart/2005/8/layout/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3EBCFB25-FD03-41C4-B850-A58B63AADD2F}">
      <dgm:prSet/>
      <dgm:spPr/>
      <dgm:t>
        <a:bodyPr/>
        <a:lstStyle/>
        <a:p>
          <a:r>
            <a:rPr lang="en-US" b="1" dirty="0"/>
            <a:t>1. Purpose</a:t>
          </a:r>
          <a:endParaRPr lang="en-US" dirty="0"/>
        </a:p>
      </dgm:t>
    </dgm:pt>
    <dgm:pt modelId="{84AC1951-B5D1-495A-B728-29E700FAB0CC}" type="parTrans" cxnId="{720EB34D-678C-4B0E-A506-870CB6858606}">
      <dgm:prSet/>
      <dgm:spPr/>
      <dgm:t>
        <a:bodyPr/>
        <a:lstStyle/>
        <a:p>
          <a:endParaRPr lang="en-US"/>
        </a:p>
      </dgm:t>
    </dgm:pt>
    <dgm:pt modelId="{9A71A2A3-93D9-43C2-B7EA-CBD5DF9AA396}" type="sibTrans" cxnId="{720EB34D-678C-4B0E-A506-870CB6858606}">
      <dgm:prSet/>
      <dgm:spPr/>
      <dgm:t>
        <a:bodyPr/>
        <a:lstStyle/>
        <a:p>
          <a:endParaRPr lang="en-US"/>
        </a:p>
      </dgm:t>
    </dgm:pt>
    <dgm:pt modelId="{A9A494D6-F2F7-4699-A410-49EAB9446A5B}">
      <dgm:prSet/>
      <dgm:spPr/>
      <dgm:t>
        <a:bodyPr/>
        <a:lstStyle/>
        <a:p>
          <a:r>
            <a:rPr lang="en-US" dirty="0"/>
            <a:t>Identify why some schools outperform others and determine where district resources should be focused.</a:t>
          </a:r>
        </a:p>
      </dgm:t>
    </dgm:pt>
    <dgm:pt modelId="{A19B2628-08FB-4171-A1F0-261C997BD25B}" type="parTrans" cxnId="{A26E365B-E945-427F-BA5D-089455C178F1}">
      <dgm:prSet/>
      <dgm:spPr/>
      <dgm:t>
        <a:bodyPr/>
        <a:lstStyle/>
        <a:p>
          <a:endParaRPr lang="en-US"/>
        </a:p>
      </dgm:t>
    </dgm:pt>
    <dgm:pt modelId="{38BE0196-D3D2-4D83-9AC8-0B5F2DFD2D73}" type="sibTrans" cxnId="{A26E365B-E945-427F-BA5D-089455C178F1}">
      <dgm:prSet/>
      <dgm:spPr/>
      <dgm:t>
        <a:bodyPr/>
        <a:lstStyle/>
        <a:p>
          <a:endParaRPr lang="en-US"/>
        </a:p>
      </dgm:t>
    </dgm:pt>
    <dgm:pt modelId="{94D10772-F728-414F-9C1C-C114F847A2B2}">
      <dgm:prSet/>
      <dgm:spPr/>
      <dgm:t>
        <a:bodyPr/>
        <a:lstStyle/>
        <a:p>
          <a:r>
            <a:rPr lang="en-US" b="1"/>
            <a:t>2. Analyze Scores and Performance Metrics</a:t>
          </a:r>
          <a:endParaRPr lang="en-US"/>
        </a:p>
      </dgm:t>
    </dgm:pt>
    <dgm:pt modelId="{4AB8609D-8E98-4B83-9A0F-A047CDCD1E9C}" type="parTrans" cxnId="{B27D9C00-7C74-4FE4-8F91-AFAD2A62FB42}">
      <dgm:prSet/>
      <dgm:spPr/>
      <dgm:t>
        <a:bodyPr/>
        <a:lstStyle/>
        <a:p>
          <a:endParaRPr lang="en-US"/>
        </a:p>
      </dgm:t>
    </dgm:pt>
    <dgm:pt modelId="{4F80A589-E6DB-4B18-83C8-509ABCD351DE}" type="sibTrans" cxnId="{B27D9C00-7C74-4FE4-8F91-AFAD2A62FB42}">
      <dgm:prSet/>
      <dgm:spPr/>
      <dgm:t>
        <a:bodyPr/>
        <a:lstStyle/>
        <a:p>
          <a:endParaRPr lang="en-US"/>
        </a:p>
      </dgm:t>
    </dgm:pt>
    <dgm:pt modelId="{95880692-2E89-41B3-A979-492B80521D14}">
      <dgm:prSet/>
      <dgm:spPr/>
      <dgm:t>
        <a:bodyPr/>
        <a:lstStyle/>
        <a:p>
          <a:r>
            <a:rPr lang="en-US" dirty="0"/>
            <a:t>ELA and Math Proficiency </a:t>
          </a:r>
          <a:r>
            <a:rPr lang="en-US" dirty="0" err="1"/>
            <a:t>percetages</a:t>
          </a:r>
          <a:r>
            <a:rPr lang="en-US" dirty="0"/>
            <a:t> (12 schools).</a:t>
          </a:r>
        </a:p>
      </dgm:t>
    </dgm:pt>
    <dgm:pt modelId="{DF2E9EAE-A165-433F-A2E8-940CF44BF12A}" type="parTrans" cxnId="{EEA158D9-B68B-4F0E-B73B-DD3A56B35300}">
      <dgm:prSet/>
      <dgm:spPr/>
      <dgm:t>
        <a:bodyPr/>
        <a:lstStyle/>
        <a:p>
          <a:endParaRPr lang="en-US"/>
        </a:p>
      </dgm:t>
    </dgm:pt>
    <dgm:pt modelId="{EE86590E-B67D-4582-A4AA-BB145D51F043}" type="sibTrans" cxnId="{EEA158D9-B68B-4F0E-B73B-DD3A56B35300}">
      <dgm:prSet/>
      <dgm:spPr/>
      <dgm:t>
        <a:bodyPr/>
        <a:lstStyle/>
        <a:p>
          <a:endParaRPr lang="en-US"/>
        </a:p>
      </dgm:t>
    </dgm:pt>
    <dgm:pt modelId="{27130FFE-2C2C-45FF-A0F4-032E1DF7BB27}">
      <dgm:prSet/>
      <dgm:spPr/>
      <dgm:t>
        <a:bodyPr/>
        <a:lstStyle/>
        <a:p>
          <a:r>
            <a:rPr lang="en-US" dirty="0"/>
            <a:t>D/F course grade rates (four combined Middle and High schools).</a:t>
          </a:r>
        </a:p>
      </dgm:t>
    </dgm:pt>
    <dgm:pt modelId="{4FD7B571-3B1C-4779-B385-941F563AEB24}" type="parTrans" cxnId="{86EBD7B2-8BBE-4765-AB41-3594D6CF59C8}">
      <dgm:prSet/>
      <dgm:spPr/>
      <dgm:t>
        <a:bodyPr/>
        <a:lstStyle/>
        <a:p>
          <a:endParaRPr lang="en-US"/>
        </a:p>
      </dgm:t>
    </dgm:pt>
    <dgm:pt modelId="{6AECB425-1A54-4180-9AF7-C9D5C502939B}" type="sibTrans" cxnId="{86EBD7B2-8BBE-4765-AB41-3594D6CF59C8}">
      <dgm:prSet/>
      <dgm:spPr/>
      <dgm:t>
        <a:bodyPr/>
        <a:lstStyle/>
        <a:p>
          <a:endParaRPr lang="en-US"/>
        </a:p>
      </dgm:t>
    </dgm:pt>
    <dgm:pt modelId="{E165D0D6-BA24-4579-B3D2-F83C3C76DEB4}">
      <dgm:prSet/>
      <dgm:spPr/>
      <dgm:t>
        <a:bodyPr/>
        <a:lstStyle/>
        <a:p>
          <a:r>
            <a:rPr lang="en-US" dirty="0"/>
            <a:t>Cohort reading performance (eight Elementary Schools).</a:t>
          </a:r>
        </a:p>
      </dgm:t>
    </dgm:pt>
    <dgm:pt modelId="{E0594163-F3FA-4BF0-B5EA-20AD44C9D513}" type="parTrans" cxnId="{EC0B0582-8446-400E-9016-038DDBFBA529}">
      <dgm:prSet/>
      <dgm:spPr/>
      <dgm:t>
        <a:bodyPr/>
        <a:lstStyle/>
        <a:p>
          <a:endParaRPr lang="en-US"/>
        </a:p>
      </dgm:t>
    </dgm:pt>
    <dgm:pt modelId="{57CA576E-DB5F-4F64-A344-A1899FFFD8A1}" type="sibTrans" cxnId="{EC0B0582-8446-400E-9016-038DDBFBA529}">
      <dgm:prSet/>
      <dgm:spPr/>
      <dgm:t>
        <a:bodyPr/>
        <a:lstStyle/>
        <a:p>
          <a:endParaRPr lang="en-US"/>
        </a:p>
      </dgm:t>
    </dgm:pt>
    <dgm:pt modelId="{5B8850E8-A89D-41B7-BFC2-EF1B5670D379}">
      <dgm:prSet/>
      <dgm:spPr/>
      <dgm:t>
        <a:bodyPr/>
        <a:lstStyle/>
        <a:p>
          <a:r>
            <a:rPr lang="en-US" b="1"/>
            <a:t>3. Investigate Potential Drivers</a:t>
          </a:r>
          <a:endParaRPr lang="en-US"/>
        </a:p>
      </dgm:t>
    </dgm:pt>
    <dgm:pt modelId="{77BF954E-79D0-4A0A-8221-4B76DD427AD1}" type="parTrans" cxnId="{AA95D4D9-D862-421F-88FD-24AF7F10FA0A}">
      <dgm:prSet/>
      <dgm:spPr/>
      <dgm:t>
        <a:bodyPr/>
        <a:lstStyle/>
        <a:p>
          <a:endParaRPr lang="en-US"/>
        </a:p>
      </dgm:t>
    </dgm:pt>
    <dgm:pt modelId="{92CBAABC-F29A-4068-95E0-45F30964F7CA}" type="sibTrans" cxnId="{AA95D4D9-D862-421F-88FD-24AF7F10FA0A}">
      <dgm:prSet/>
      <dgm:spPr/>
      <dgm:t>
        <a:bodyPr/>
        <a:lstStyle/>
        <a:p>
          <a:endParaRPr lang="en-US"/>
        </a:p>
      </dgm:t>
    </dgm:pt>
    <dgm:pt modelId="{399D6BF1-9FE6-48E5-9152-B55552E93ACA}">
      <dgm:prSet/>
      <dgm:spPr/>
      <dgm:t>
        <a:bodyPr/>
        <a:lstStyle/>
        <a:p>
          <a:r>
            <a:rPr lang="en-US" dirty="0"/>
            <a:t>Student demographics and attendance records.</a:t>
          </a:r>
        </a:p>
      </dgm:t>
    </dgm:pt>
    <dgm:pt modelId="{FB77B3AC-4CB8-46BC-903B-E3242675E4BD}" type="parTrans" cxnId="{60F7F104-6141-4EF3-967A-4B21847216B7}">
      <dgm:prSet/>
      <dgm:spPr/>
      <dgm:t>
        <a:bodyPr/>
        <a:lstStyle/>
        <a:p>
          <a:endParaRPr lang="en-US"/>
        </a:p>
      </dgm:t>
    </dgm:pt>
    <dgm:pt modelId="{2EE25A14-93CD-4999-8CBF-DB4919354A4E}" type="sibTrans" cxnId="{60F7F104-6141-4EF3-967A-4B21847216B7}">
      <dgm:prSet/>
      <dgm:spPr/>
      <dgm:t>
        <a:bodyPr/>
        <a:lstStyle/>
        <a:p>
          <a:endParaRPr lang="en-US"/>
        </a:p>
      </dgm:t>
    </dgm:pt>
    <dgm:pt modelId="{5FD1322C-A1B3-4E5E-9608-C270D00B45B5}">
      <dgm:prSet/>
      <dgm:spPr/>
      <dgm:t>
        <a:bodyPr/>
        <a:lstStyle/>
        <a:p>
          <a:r>
            <a:rPr lang="en-US" dirty="0"/>
            <a:t>Staffing metrics including student-teacher ratios, vacancies, and teacher turnover.</a:t>
          </a:r>
        </a:p>
      </dgm:t>
    </dgm:pt>
    <dgm:pt modelId="{1A161551-41FE-4CFA-8FF8-CB13A0064CA5}" type="parTrans" cxnId="{96F50CC9-A2BA-4569-84E9-04943C9B1A77}">
      <dgm:prSet/>
      <dgm:spPr/>
      <dgm:t>
        <a:bodyPr/>
        <a:lstStyle/>
        <a:p>
          <a:endParaRPr lang="en-US"/>
        </a:p>
      </dgm:t>
    </dgm:pt>
    <dgm:pt modelId="{5EE024B3-184B-43DB-9B1A-78F16994A216}" type="sibTrans" cxnId="{96F50CC9-A2BA-4569-84E9-04943C9B1A77}">
      <dgm:prSet/>
      <dgm:spPr/>
      <dgm:t>
        <a:bodyPr/>
        <a:lstStyle/>
        <a:p>
          <a:endParaRPr lang="en-US"/>
        </a:p>
      </dgm:t>
    </dgm:pt>
    <dgm:pt modelId="{40B32C00-53C4-45A0-9FD4-D97FC5D41BD7}">
      <dgm:prSet/>
      <dgm:spPr/>
      <dgm:t>
        <a:bodyPr/>
        <a:lstStyle/>
        <a:p>
          <a:r>
            <a:rPr lang="en-US" dirty="0"/>
            <a:t>Budget and financial allocation.	</a:t>
          </a:r>
        </a:p>
      </dgm:t>
    </dgm:pt>
    <dgm:pt modelId="{0E0E4807-511A-442F-833F-B80E7FCC2BE8}" type="parTrans" cxnId="{CA71F500-8B5A-4DDC-ABC6-921A5A0327A5}">
      <dgm:prSet/>
      <dgm:spPr/>
      <dgm:t>
        <a:bodyPr/>
        <a:lstStyle/>
        <a:p>
          <a:endParaRPr lang="en-US"/>
        </a:p>
      </dgm:t>
    </dgm:pt>
    <dgm:pt modelId="{FB39AC2D-1BCB-412B-9B6A-489D2321462F}" type="sibTrans" cxnId="{CA71F500-8B5A-4DDC-ABC6-921A5A0327A5}">
      <dgm:prSet/>
      <dgm:spPr/>
      <dgm:t>
        <a:bodyPr/>
        <a:lstStyle/>
        <a:p>
          <a:endParaRPr lang="en-US"/>
        </a:p>
      </dgm:t>
    </dgm:pt>
    <dgm:pt modelId="{6BFBC149-FEBC-43D6-B2AE-082B445D89D6}">
      <dgm:prSet/>
      <dgm:spPr/>
      <dgm:t>
        <a:bodyPr/>
        <a:lstStyle/>
        <a:p>
          <a:r>
            <a:rPr lang="en-US" b="1"/>
            <a:t>4. Discovery and Recommendations</a:t>
          </a:r>
          <a:endParaRPr lang="en-US"/>
        </a:p>
      </dgm:t>
    </dgm:pt>
    <dgm:pt modelId="{B804D030-FBD6-4F9A-B163-E9848D36F4A1}" type="parTrans" cxnId="{D85C8372-F806-4C97-BDBB-23A4CB0BD15F}">
      <dgm:prSet/>
      <dgm:spPr/>
      <dgm:t>
        <a:bodyPr/>
        <a:lstStyle/>
        <a:p>
          <a:endParaRPr lang="en-US"/>
        </a:p>
      </dgm:t>
    </dgm:pt>
    <dgm:pt modelId="{A50D81D3-2D92-4D84-A5FE-DCB6F1313343}" type="sibTrans" cxnId="{D85C8372-F806-4C97-BDBB-23A4CB0BD15F}">
      <dgm:prSet/>
      <dgm:spPr/>
      <dgm:t>
        <a:bodyPr/>
        <a:lstStyle/>
        <a:p>
          <a:endParaRPr lang="en-US"/>
        </a:p>
      </dgm:t>
    </dgm:pt>
    <dgm:pt modelId="{CB214357-133D-4C24-AFBB-14526BDB915E}">
      <dgm:prSet/>
      <dgm:spPr/>
      <dgm:t>
        <a:bodyPr/>
        <a:lstStyle/>
        <a:p>
          <a:r>
            <a:rPr lang="en-US" dirty="0"/>
            <a:t>Demographic and attendance factors explained much of the variation in school performance.</a:t>
          </a:r>
        </a:p>
      </dgm:t>
    </dgm:pt>
    <dgm:pt modelId="{BE83360B-4B9B-462B-9DCD-C5F411DE1E19}" type="parTrans" cxnId="{AEE9C9A9-1971-46A0-BA23-5DE38BE5F418}">
      <dgm:prSet/>
      <dgm:spPr/>
      <dgm:t>
        <a:bodyPr/>
        <a:lstStyle/>
        <a:p>
          <a:endParaRPr lang="en-US"/>
        </a:p>
      </dgm:t>
    </dgm:pt>
    <dgm:pt modelId="{92AA51B5-419C-424D-BF43-2344969CB3EA}" type="sibTrans" cxnId="{AEE9C9A9-1971-46A0-BA23-5DE38BE5F418}">
      <dgm:prSet/>
      <dgm:spPr/>
      <dgm:t>
        <a:bodyPr/>
        <a:lstStyle/>
        <a:p>
          <a:endParaRPr lang="en-US"/>
        </a:p>
      </dgm:t>
    </dgm:pt>
    <dgm:pt modelId="{7E5C1E81-4B3F-47E4-8D06-2751F4E8D614}">
      <dgm:prSet/>
      <dgm:spPr/>
      <dgm:t>
        <a:bodyPr/>
        <a:lstStyle/>
        <a:p>
          <a:r>
            <a:rPr lang="en-US" dirty="0"/>
            <a:t>Schools with higher teacher turnover also experienced higher absenteeism rates.</a:t>
          </a:r>
        </a:p>
      </dgm:t>
    </dgm:pt>
    <dgm:pt modelId="{806513EB-4752-454C-8369-03E444BA2E17}" type="parTrans" cxnId="{F6319643-1B8A-4FC3-BDD3-4DC57035878E}">
      <dgm:prSet/>
      <dgm:spPr/>
      <dgm:t>
        <a:bodyPr/>
        <a:lstStyle/>
        <a:p>
          <a:endParaRPr lang="en-US"/>
        </a:p>
      </dgm:t>
    </dgm:pt>
    <dgm:pt modelId="{A8383F6E-95DA-41DD-BE6E-43578513BB18}" type="sibTrans" cxnId="{F6319643-1B8A-4FC3-BDD3-4DC57035878E}">
      <dgm:prSet/>
      <dgm:spPr/>
      <dgm:t>
        <a:bodyPr/>
        <a:lstStyle/>
        <a:p>
          <a:endParaRPr lang="en-US"/>
        </a:p>
      </dgm:t>
    </dgm:pt>
    <dgm:pt modelId="{D11828D3-C4E0-473A-8C23-8F838CEAF605}">
      <dgm:prSet/>
      <dgm:spPr/>
      <dgm:t>
        <a:bodyPr/>
        <a:lstStyle/>
        <a:p>
          <a:r>
            <a:rPr lang="en-US" dirty="0"/>
            <a:t>Financial budget and allocation recommendations to improve turnover and student scores.</a:t>
          </a:r>
        </a:p>
      </dgm:t>
    </dgm:pt>
    <dgm:pt modelId="{9E1EA44A-2560-4008-89F5-873BBA6771C8}" type="parTrans" cxnId="{2B1D323C-77CA-4CEA-A761-3F7757E283BD}">
      <dgm:prSet/>
      <dgm:spPr/>
      <dgm:t>
        <a:bodyPr/>
        <a:lstStyle/>
        <a:p>
          <a:endParaRPr lang="en-US"/>
        </a:p>
      </dgm:t>
    </dgm:pt>
    <dgm:pt modelId="{026EE05B-662F-4E83-8635-B3DC9EBE85F3}" type="sibTrans" cxnId="{2B1D323C-77CA-4CEA-A761-3F7757E283BD}">
      <dgm:prSet/>
      <dgm:spPr/>
      <dgm:t>
        <a:bodyPr/>
        <a:lstStyle/>
        <a:p>
          <a:endParaRPr lang="en-US"/>
        </a:p>
      </dgm:t>
    </dgm:pt>
    <dgm:pt modelId="{9058488D-F491-4DAF-AB0C-C8C82626FDAC}" type="pres">
      <dgm:prSet presAssocID="{C27A2188-A8AC-4180-85F7-B5EF58FCC425}" presName="linear" presStyleCnt="0">
        <dgm:presLayoutVars>
          <dgm:dir/>
          <dgm:animLvl val="lvl"/>
          <dgm:resizeHandles val="exact"/>
        </dgm:presLayoutVars>
      </dgm:prSet>
      <dgm:spPr/>
    </dgm:pt>
    <dgm:pt modelId="{1910D756-73B4-43CA-BCDF-66D7F34B3EB1}" type="pres">
      <dgm:prSet presAssocID="{3EBCFB25-FD03-41C4-B850-A58B63AADD2F}" presName="parentLin" presStyleCnt="0"/>
      <dgm:spPr/>
    </dgm:pt>
    <dgm:pt modelId="{F31D28B1-FA7E-4E9E-9DF6-403875C6D207}" type="pres">
      <dgm:prSet presAssocID="{3EBCFB25-FD03-41C4-B850-A58B63AADD2F}" presName="parentLeftMargin" presStyleLbl="node1" presStyleIdx="0" presStyleCnt="4"/>
      <dgm:spPr/>
    </dgm:pt>
    <dgm:pt modelId="{A6E0CD17-4A10-4C78-A9F1-CB431EEED8C1}" type="pres">
      <dgm:prSet presAssocID="{3EBCFB25-FD03-41C4-B850-A58B63AADD2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057CD92-0EB3-4026-92B2-9B3A48980ED5}" type="pres">
      <dgm:prSet presAssocID="{3EBCFB25-FD03-41C4-B850-A58B63AADD2F}" presName="negativeSpace" presStyleCnt="0"/>
      <dgm:spPr/>
    </dgm:pt>
    <dgm:pt modelId="{608A7E19-5758-4DC5-8243-90BB8589103A}" type="pres">
      <dgm:prSet presAssocID="{3EBCFB25-FD03-41C4-B850-A58B63AADD2F}" presName="childText" presStyleLbl="conFgAcc1" presStyleIdx="0" presStyleCnt="4">
        <dgm:presLayoutVars>
          <dgm:bulletEnabled val="1"/>
        </dgm:presLayoutVars>
      </dgm:prSet>
      <dgm:spPr/>
    </dgm:pt>
    <dgm:pt modelId="{2FF7C162-1297-440A-9ADB-C22D1C2EB7C2}" type="pres">
      <dgm:prSet presAssocID="{9A71A2A3-93D9-43C2-B7EA-CBD5DF9AA396}" presName="spaceBetweenRectangles" presStyleCnt="0"/>
      <dgm:spPr/>
    </dgm:pt>
    <dgm:pt modelId="{4D111FA5-4DB7-4FEA-A8F6-2306CB512A6A}" type="pres">
      <dgm:prSet presAssocID="{94D10772-F728-414F-9C1C-C114F847A2B2}" presName="parentLin" presStyleCnt="0"/>
      <dgm:spPr/>
    </dgm:pt>
    <dgm:pt modelId="{27DDCD33-6124-4BF2-B2F3-B0D9B743D79D}" type="pres">
      <dgm:prSet presAssocID="{94D10772-F728-414F-9C1C-C114F847A2B2}" presName="parentLeftMargin" presStyleLbl="node1" presStyleIdx="0" presStyleCnt="4"/>
      <dgm:spPr/>
    </dgm:pt>
    <dgm:pt modelId="{E4BC1485-20F0-4215-BD98-1196B99D03BC}" type="pres">
      <dgm:prSet presAssocID="{94D10772-F728-414F-9C1C-C114F847A2B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AB5AEB0-93A8-4467-945B-80E8E975B602}" type="pres">
      <dgm:prSet presAssocID="{94D10772-F728-414F-9C1C-C114F847A2B2}" presName="negativeSpace" presStyleCnt="0"/>
      <dgm:spPr/>
    </dgm:pt>
    <dgm:pt modelId="{287AFB87-1FEA-4B8A-B805-05A0BF729495}" type="pres">
      <dgm:prSet presAssocID="{94D10772-F728-414F-9C1C-C114F847A2B2}" presName="childText" presStyleLbl="conFgAcc1" presStyleIdx="1" presStyleCnt="4">
        <dgm:presLayoutVars>
          <dgm:bulletEnabled val="1"/>
        </dgm:presLayoutVars>
      </dgm:prSet>
      <dgm:spPr/>
    </dgm:pt>
    <dgm:pt modelId="{8364FAF5-5D57-488C-A399-E1E779C3F429}" type="pres">
      <dgm:prSet presAssocID="{4F80A589-E6DB-4B18-83C8-509ABCD351DE}" presName="spaceBetweenRectangles" presStyleCnt="0"/>
      <dgm:spPr/>
    </dgm:pt>
    <dgm:pt modelId="{859EBA64-ED24-4271-BDD1-209F03A2397E}" type="pres">
      <dgm:prSet presAssocID="{5B8850E8-A89D-41B7-BFC2-EF1B5670D379}" presName="parentLin" presStyleCnt="0"/>
      <dgm:spPr/>
    </dgm:pt>
    <dgm:pt modelId="{A24D5438-49C5-48FB-AD87-E807392F8703}" type="pres">
      <dgm:prSet presAssocID="{5B8850E8-A89D-41B7-BFC2-EF1B5670D379}" presName="parentLeftMargin" presStyleLbl="node1" presStyleIdx="1" presStyleCnt="4"/>
      <dgm:spPr/>
    </dgm:pt>
    <dgm:pt modelId="{5494F934-454B-489E-B5BC-A68EBA0E17BB}" type="pres">
      <dgm:prSet presAssocID="{5B8850E8-A89D-41B7-BFC2-EF1B5670D37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AE7EC6D-511A-4310-AB8F-177E39678706}" type="pres">
      <dgm:prSet presAssocID="{5B8850E8-A89D-41B7-BFC2-EF1B5670D379}" presName="negativeSpace" presStyleCnt="0"/>
      <dgm:spPr/>
    </dgm:pt>
    <dgm:pt modelId="{E8EE4F48-D1D8-4FDB-A805-A6D267108685}" type="pres">
      <dgm:prSet presAssocID="{5B8850E8-A89D-41B7-BFC2-EF1B5670D379}" presName="childText" presStyleLbl="conFgAcc1" presStyleIdx="2" presStyleCnt="4">
        <dgm:presLayoutVars>
          <dgm:bulletEnabled val="1"/>
        </dgm:presLayoutVars>
      </dgm:prSet>
      <dgm:spPr/>
    </dgm:pt>
    <dgm:pt modelId="{70A48B31-1A64-45B2-A235-AA9DAD770380}" type="pres">
      <dgm:prSet presAssocID="{92CBAABC-F29A-4068-95E0-45F30964F7CA}" presName="spaceBetweenRectangles" presStyleCnt="0"/>
      <dgm:spPr/>
    </dgm:pt>
    <dgm:pt modelId="{39575EC8-D66F-4F49-8941-5E352C1F4E2C}" type="pres">
      <dgm:prSet presAssocID="{6BFBC149-FEBC-43D6-B2AE-082B445D89D6}" presName="parentLin" presStyleCnt="0"/>
      <dgm:spPr/>
    </dgm:pt>
    <dgm:pt modelId="{54C2A3B5-C5C8-48CA-A43C-7B0E5F54E5AF}" type="pres">
      <dgm:prSet presAssocID="{6BFBC149-FEBC-43D6-B2AE-082B445D89D6}" presName="parentLeftMargin" presStyleLbl="node1" presStyleIdx="2" presStyleCnt="4"/>
      <dgm:spPr/>
    </dgm:pt>
    <dgm:pt modelId="{3BBDCAE3-96E8-4CAC-A9E1-AC2C8A56548A}" type="pres">
      <dgm:prSet presAssocID="{6BFBC149-FEBC-43D6-B2AE-082B445D89D6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2358A803-3B97-42DA-BAEC-4ACD7ADEF03D}" type="pres">
      <dgm:prSet presAssocID="{6BFBC149-FEBC-43D6-B2AE-082B445D89D6}" presName="negativeSpace" presStyleCnt="0"/>
      <dgm:spPr/>
    </dgm:pt>
    <dgm:pt modelId="{8920D908-C7E4-41D4-BEA8-1A80443CF23D}" type="pres">
      <dgm:prSet presAssocID="{6BFBC149-FEBC-43D6-B2AE-082B445D89D6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B27D9C00-7C74-4FE4-8F91-AFAD2A62FB42}" srcId="{C27A2188-A8AC-4180-85F7-B5EF58FCC425}" destId="{94D10772-F728-414F-9C1C-C114F847A2B2}" srcOrd="1" destOrd="0" parTransId="{4AB8609D-8E98-4B83-9A0F-A047CDCD1E9C}" sibTransId="{4F80A589-E6DB-4B18-83C8-509ABCD351DE}"/>
    <dgm:cxn modelId="{CA71F500-8B5A-4DDC-ABC6-921A5A0327A5}" srcId="{5B8850E8-A89D-41B7-BFC2-EF1B5670D379}" destId="{40B32C00-53C4-45A0-9FD4-D97FC5D41BD7}" srcOrd="2" destOrd="0" parTransId="{0E0E4807-511A-442F-833F-B80E7FCC2BE8}" sibTransId="{FB39AC2D-1BCB-412B-9B6A-489D2321462F}"/>
    <dgm:cxn modelId="{60F7F104-6141-4EF3-967A-4B21847216B7}" srcId="{5B8850E8-A89D-41B7-BFC2-EF1B5670D379}" destId="{399D6BF1-9FE6-48E5-9152-B55552E93ACA}" srcOrd="0" destOrd="0" parTransId="{FB77B3AC-4CB8-46BC-903B-E3242675E4BD}" sibTransId="{2EE25A14-93CD-4999-8CBF-DB4919354A4E}"/>
    <dgm:cxn modelId="{D3408306-584A-4D9B-8BC9-74537EE7B381}" type="presOf" srcId="{5FD1322C-A1B3-4E5E-9608-C270D00B45B5}" destId="{E8EE4F48-D1D8-4FDB-A805-A6D267108685}" srcOrd="0" destOrd="1" presId="urn:microsoft.com/office/officeart/2005/8/layout/list1"/>
    <dgm:cxn modelId="{4C4F6809-D473-4088-9F84-4743285CD2BF}" type="presOf" srcId="{E165D0D6-BA24-4579-B3D2-F83C3C76DEB4}" destId="{287AFB87-1FEA-4B8A-B805-05A0BF729495}" srcOrd="0" destOrd="2" presId="urn:microsoft.com/office/officeart/2005/8/layout/list1"/>
    <dgm:cxn modelId="{38201B0A-8222-463B-A446-1DD650DAC9A7}" type="presOf" srcId="{6BFBC149-FEBC-43D6-B2AE-082B445D89D6}" destId="{54C2A3B5-C5C8-48CA-A43C-7B0E5F54E5AF}" srcOrd="0" destOrd="0" presId="urn:microsoft.com/office/officeart/2005/8/layout/list1"/>
    <dgm:cxn modelId="{DD05BC14-FE90-4766-8890-5BBB292885DD}" type="presOf" srcId="{95880692-2E89-41B3-A979-492B80521D14}" destId="{287AFB87-1FEA-4B8A-B805-05A0BF729495}" srcOrd="0" destOrd="0" presId="urn:microsoft.com/office/officeart/2005/8/layout/list1"/>
    <dgm:cxn modelId="{67A78827-8DFF-480C-A5D6-502211B1B6B0}" type="presOf" srcId="{27130FFE-2C2C-45FF-A0F4-032E1DF7BB27}" destId="{287AFB87-1FEA-4B8A-B805-05A0BF729495}" srcOrd="0" destOrd="1" presId="urn:microsoft.com/office/officeart/2005/8/layout/list1"/>
    <dgm:cxn modelId="{3D1F7732-E6C6-4829-A80C-BD7D9704BA7E}" type="presOf" srcId="{3EBCFB25-FD03-41C4-B850-A58B63AADD2F}" destId="{F31D28B1-FA7E-4E9E-9DF6-403875C6D207}" srcOrd="0" destOrd="0" presId="urn:microsoft.com/office/officeart/2005/8/layout/list1"/>
    <dgm:cxn modelId="{7640A03A-A116-4A60-9864-CC3890D4CB62}" type="presOf" srcId="{7E5C1E81-4B3F-47E4-8D06-2751F4E8D614}" destId="{8920D908-C7E4-41D4-BEA8-1A80443CF23D}" srcOrd="0" destOrd="1" presId="urn:microsoft.com/office/officeart/2005/8/layout/list1"/>
    <dgm:cxn modelId="{2B1D323C-77CA-4CEA-A761-3F7757E283BD}" srcId="{6BFBC149-FEBC-43D6-B2AE-082B445D89D6}" destId="{D11828D3-C4E0-473A-8C23-8F838CEAF605}" srcOrd="2" destOrd="0" parTransId="{9E1EA44A-2560-4008-89F5-873BBA6771C8}" sibTransId="{026EE05B-662F-4E83-8635-B3DC9EBE85F3}"/>
    <dgm:cxn modelId="{A26E365B-E945-427F-BA5D-089455C178F1}" srcId="{3EBCFB25-FD03-41C4-B850-A58B63AADD2F}" destId="{A9A494D6-F2F7-4699-A410-49EAB9446A5B}" srcOrd="0" destOrd="0" parTransId="{A19B2628-08FB-4171-A1F0-261C997BD25B}" sibTransId="{38BE0196-D3D2-4D83-9AC8-0B5F2DFD2D73}"/>
    <dgm:cxn modelId="{7D01BB60-64D3-4C8F-87BC-650E14328A52}" type="presOf" srcId="{5B8850E8-A89D-41B7-BFC2-EF1B5670D379}" destId="{A24D5438-49C5-48FB-AD87-E807392F8703}" srcOrd="0" destOrd="0" presId="urn:microsoft.com/office/officeart/2005/8/layout/list1"/>
    <dgm:cxn modelId="{F6319643-1B8A-4FC3-BDD3-4DC57035878E}" srcId="{6BFBC149-FEBC-43D6-B2AE-082B445D89D6}" destId="{7E5C1E81-4B3F-47E4-8D06-2751F4E8D614}" srcOrd="1" destOrd="0" parTransId="{806513EB-4752-454C-8369-03E444BA2E17}" sibTransId="{A8383F6E-95DA-41DD-BE6E-43578513BB18}"/>
    <dgm:cxn modelId="{720EB34D-678C-4B0E-A506-870CB6858606}" srcId="{C27A2188-A8AC-4180-85F7-B5EF58FCC425}" destId="{3EBCFB25-FD03-41C4-B850-A58B63AADD2F}" srcOrd="0" destOrd="0" parTransId="{84AC1951-B5D1-495A-B728-29E700FAB0CC}" sibTransId="{9A71A2A3-93D9-43C2-B7EA-CBD5DF9AA396}"/>
    <dgm:cxn modelId="{52FE404F-4D24-4791-9327-3A138D976E97}" type="presOf" srcId="{94D10772-F728-414F-9C1C-C114F847A2B2}" destId="{E4BC1485-20F0-4215-BD98-1196B99D03BC}" srcOrd="1" destOrd="0" presId="urn:microsoft.com/office/officeart/2005/8/layout/list1"/>
    <dgm:cxn modelId="{D85C8372-F806-4C97-BDBB-23A4CB0BD15F}" srcId="{C27A2188-A8AC-4180-85F7-B5EF58FCC425}" destId="{6BFBC149-FEBC-43D6-B2AE-082B445D89D6}" srcOrd="3" destOrd="0" parTransId="{B804D030-FBD6-4F9A-B163-E9848D36F4A1}" sibTransId="{A50D81D3-2D92-4D84-A5FE-DCB6F1313343}"/>
    <dgm:cxn modelId="{39F60754-8480-456D-A836-C4DD9ECEC316}" type="presOf" srcId="{399D6BF1-9FE6-48E5-9152-B55552E93ACA}" destId="{E8EE4F48-D1D8-4FDB-A805-A6D267108685}" srcOrd="0" destOrd="0" presId="urn:microsoft.com/office/officeart/2005/8/layout/list1"/>
    <dgm:cxn modelId="{EC0B0582-8446-400E-9016-038DDBFBA529}" srcId="{94D10772-F728-414F-9C1C-C114F847A2B2}" destId="{E165D0D6-BA24-4579-B3D2-F83C3C76DEB4}" srcOrd="2" destOrd="0" parTransId="{E0594163-F3FA-4BF0-B5EA-20AD44C9D513}" sibTransId="{57CA576E-DB5F-4F64-A344-A1899FFFD8A1}"/>
    <dgm:cxn modelId="{265D039D-F826-4D87-BEF4-DBADC7521A92}" type="presOf" srcId="{6BFBC149-FEBC-43D6-B2AE-082B445D89D6}" destId="{3BBDCAE3-96E8-4CAC-A9E1-AC2C8A56548A}" srcOrd="1" destOrd="0" presId="urn:microsoft.com/office/officeart/2005/8/layout/list1"/>
    <dgm:cxn modelId="{35ACE2A8-5994-4E0B-B76B-66ACC1985FBC}" type="presOf" srcId="{CB214357-133D-4C24-AFBB-14526BDB915E}" destId="{8920D908-C7E4-41D4-BEA8-1A80443CF23D}" srcOrd="0" destOrd="0" presId="urn:microsoft.com/office/officeart/2005/8/layout/list1"/>
    <dgm:cxn modelId="{AEE9C9A9-1971-46A0-BA23-5DE38BE5F418}" srcId="{6BFBC149-FEBC-43D6-B2AE-082B445D89D6}" destId="{CB214357-133D-4C24-AFBB-14526BDB915E}" srcOrd="0" destOrd="0" parTransId="{BE83360B-4B9B-462B-9DCD-C5F411DE1E19}" sibTransId="{92AA51B5-419C-424D-BF43-2344969CB3EA}"/>
    <dgm:cxn modelId="{E3125DB1-2934-447F-A99C-58A369305D82}" type="presOf" srcId="{5B8850E8-A89D-41B7-BFC2-EF1B5670D379}" destId="{5494F934-454B-489E-B5BC-A68EBA0E17BB}" srcOrd="1" destOrd="0" presId="urn:microsoft.com/office/officeart/2005/8/layout/list1"/>
    <dgm:cxn modelId="{86EBD7B2-8BBE-4765-AB41-3594D6CF59C8}" srcId="{94D10772-F728-414F-9C1C-C114F847A2B2}" destId="{27130FFE-2C2C-45FF-A0F4-032E1DF7BB27}" srcOrd="1" destOrd="0" parTransId="{4FD7B571-3B1C-4779-B385-941F563AEB24}" sibTransId="{6AECB425-1A54-4180-9AF7-C9D5C502939B}"/>
    <dgm:cxn modelId="{B88609C1-B42D-43FE-ACF7-8939AB492F3D}" type="presOf" srcId="{D11828D3-C4E0-473A-8C23-8F838CEAF605}" destId="{8920D908-C7E4-41D4-BEA8-1A80443CF23D}" srcOrd="0" destOrd="2" presId="urn:microsoft.com/office/officeart/2005/8/layout/list1"/>
    <dgm:cxn modelId="{AF8399C6-A42D-45D2-8A19-7CB6FED67DF3}" type="presOf" srcId="{A9A494D6-F2F7-4699-A410-49EAB9446A5B}" destId="{608A7E19-5758-4DC5-8243-90BB8589103A}" srcOrd="0" destOrd="0" presId="urn:microsoft.com/office/officeart/2005/8/layout/list1"/>
    <dgm:cxn modelId="{1C3DF5C6-AED6-4D10-AFD0-DBF29A48EDCC}" type="presOf" srcId="{40B32C00-53C4-45A0-9FD4-D97FC5D41BD7}" destId="{E8EE4F48-D1D8-4FDB-A805-A6D267108685}" srcOrd="0" destOrd="2" presId="urn:microsoft.com/office/officeart/2005/8/layout/list1"/>
    <dgm:cxn modelId="{96F50CC9-A2BA-4569-84E9-04943C9B1A77}" srcId="{5B8850E8-A89D-41B7-BFC2-EF1B5670D379}" destId="{5FD1322C-A1B3-4E5E-9608-C270D00B45B5}" srcOrd="1" destOrd="0" parTransId="{1A161551-41FE-4CFA-8FF8-CB13A0064CA5}" sibTransId="{5EE024B3-184B-43DB-9B1A-78F16994A216}"/>
    <dgm:cxn modelId="{EEA158D9-B68B-4F0E-B73B-DD3A56B35300}" srcId="{94D10772-F728-414F-9C1C-C114F847A2B2}" destId="{95880692-2E89-41B3-A979-492B80521D14}" srcOrd="0" destOrd="0" parTransId="{DF2E9EAE-A165-433F-A2E8-940CF44BF12A}" sibTransId="{EE86590E-B67D-4582-A4AA-BB145D51F043}"/>
    <dgm:cxn modelId="{AA95D4D9-D862-421F-88FD-24AF7F10FA0A}" srcId="{C27A2188-A8AC-4180-85F7-B5EF58FCC425}" destId="{5B8850E8-A89D-41B7-BFC2-EF1B5670D379}" srcOrd="2" destOrd="0" parTransId="{77BF954E-79D0-4A0A-8221-4B76DD427AD1}" sibTransId="{92CBAABC-F29A-4068-95E0-45F30964F7CA}"/>
    <dgm:cxn modelId="{90E9C3E2-6AC0-47D4-9207-583EBC2028EB}" type="presOf" srcId="{94D10772-F728-414F-9C1C-C114F847A2B2}" destId="{27DDCD33-6124-4BF2-B2F3-B0D9B743D79D}" srcOrd="0" destOrd="0" presId="urn:microsoft.com/office/officeart/2005/8/layout/list1"/>
    <dgm:cxn modelId="{5696EEEA-761E-41D5-9B50-2ED2B9678989}" type="presOf" srcId="{C27A2188-A8AC-4180-85F7-B5EF58FCC425}" destId="{9058488D-F491-4DAF-AB0C-C8C82626FDAC}" srcOrd="0" destOrd="0" presId="urn:microsoft.com/office/officeart/2005/8/layout/list1"/>
    <dgm:cxn modelId="{C82E17F1-37EE-44C9-8BC0-D43241E557FA}" type="presOf" srcId="{3EBCFB25-FD03-41C4-B850-A58B63AADD2F}" destId="{A6E0CD17-4A10-4C78-A9F1-CB431EEED8C1}" srcOrd="1" destOrd="0" presId="urn:microsoft.com/office/officeart/2005/8/layout/list1"/>
    <dgm:cxn modelId="{C762AA58-14DA-476B-9BC3-C66934321947}" type="presParOf" srcId="{9058488D-F491-4DAF-AB0C-C8C82626FDAC}" destId="{1910D756-73B4-43CA-BCDF-66D7F34B3EB1}" srcOrd="0" destOrd="0" presId="urn:microsoft.com/office/officeart/2005/8/layout/list1"/>
    <dgm:cxn modelId="{147FBC96-6555-47E9-BB66-A7FC554BAE4C}" type="presParOf" srcId="{1910D756-73B4-43CA-BCDF-66D7F34B3EB1}" destId="{F31D28B1-FA7E-4E9E-9DF6-403875C6D207}" srcOrd="0" destOrd="0" presId="urn:microsoft.com/office/officeart/2005/8/layout/list1"/>
    <dgm:cxn modelId="{01D6C47F-A30D-4AB9-B6F9-51FCC7A8C60D}" type="presParOf" srcId="{1910D756-73B4-43CA-BCDF-66D7F34B3EB1}" destId="{A6E0CD17-4A10-4C78-A9F1-CB431EEED8C1}" srcOrd="1" destOrd="0" presId="urn:microsoft.com/office/officeart/2005/8/layout/list1"/>
    <dgm:cxn modelId="{53B3DEA8-D0E2-46A0-9221-39AC1DC2C6DA}" type="presParOf" srcId="{9058488D-F491-4DAF-AB0C-C8C82626FDAC}" destId="{4057CD92-0EB3-4026-92B2-9B3A48980ED5}" srcOrd="1" destOrd="0" presId="urn:microsoft.com/office/officeart/2005/8/layout/list1"/>
    <dgm:cxn modelId="{2631F47B-3B25-44F8-ACB2-5552498ECA1D}" type="presParOf" srcId="{9058488D-F491-4DAF-AB0C-C8C82626FDAC}" destId="{608A7E19-5758-4DC5-8243-90BB8589103A}" srcOrd="2" destOrd="0" presId="urn:microsoft.com/office/officeart/2005/8/layout/list1"/>
    <dgm:cxn modelId="{8F7EE61E-16A9-4C74-93A2-B7D071AB9DD9}" type="presParOf" srcId="{9058488D-F491-4DAF-AB0C-C8C82626FDAC}" destId="{2FF7C162-1297-440A-9ADB-C22D1C2EB7C2}" srcOrd="3" destOrd="0" presId="urn:microsoft.com/office/officeart/2005/8/layout/list1"/>
    <dgm:cxn modelId="{76B00C59-AD01-4BE9-9A3E-C8EE103DE3C2}" type="presParOf" srcId="{9058488D-F491-4DAF-AB0C-C8C82626FDAC}" destId="{4D111FA5-4DB7-4FEA-A8F6-2306CB512A6A}" srcOrd="4" destOrd="0" presId="urn:microsoft.com/office/officeart/2005/8/layout/list1"/>
    <dgm:cxn modelId="{0D43DD11-FA87-4197-BE0A-1C3FD3193DE5}" type="presParOf" srcId="{4D111FA5-4DB7-4FEA-A8F6-2306CB512A6A}" destId="{27DDCD33-6124-4BF2-B2F3-B0D9B743D79D}" srcOrd="0" destOrd="0" presId="urn:microsoft.com/office/officeart/2005/8/layout/list1"/>
    <dgm:cxn modelId="{814E0A91-DB47-4382-8712-823BBD53AB98}" type="presParOf" srcId="{4D111FA5-4DB7-4FEA-A8F6-2306CB512A6A}" destId="{E4BC1485-20F0-4215-BD98-1196B99D03BC}" srcOrd="1" destOrd="0" presId="urn:microsoft.com/office/officeart/2005/8/layout/list1"/>
    <dgm:cxn modelId="{0F3EC83A-841E-4B13-B76A-FE952426C93D}" type="presParOf" srcId="{9058488D-F491-4DAF-AB0C-C8C82626FDAC}" destId="{FAB5AEB0-93A8-4467-945B-80E8E975B602}" srcOrd="5" destOrd="0" presId="urn:microsoft.com/office/officeart/2005/8/layout/list1"/>
    <dgm:cxn modelId="{675D02B0-3543-4DEE-A684-B6B3E2AF03E9}" type="presParOf" srcId="{9058488D-F491-4DAF-AB0C-C8C82626FDAC}" destId="{287AFB87-1FEA-4B8A-B805-05A0BF729495}" srcOrd="6" destOrd="0" presId="urn:microsoft.com/office/officeart/2005/8/layout/list1"/>
    <dgm:cxn modelId="{8651F6F4-6976-4F67-BD59-C324754A9012}" type="presParOf" srcId="{9058488D-F491-4DAF-AB0C-C8C82626FDAC}" destId="{8364FAF5-5D57-488C-A399-E1E779C3F429}" srcOrd="7" destOrd="0" presId="urn:microsoft.com/office/officeart/2005/8/layout/list1"/>
    <dgm:cxn modelId="{856A2307-394C-43B8-A93D-283E149B434E}" type="presParOf" srcId="{9058488D-F491-4DAF-AB0C-C8C82626FDAC}" destId="{859EBA64-ED24-4271-BDD1-209F03A2397E}" srcOrd="8" destOrd="0" presId="urn:microsoft.com/office/officeart/2005/8/layout/list1"/>
    <dgm:cxn modelId="{A0FF7101-B24D-44C4-9408-A99AC17A9FBF}" type="presParOf" srcId="{859EBA64-ED24-4271-BDD1-209F03A2397E}" destId="{A24D5438-49C5-48FB-AD87-E807392F8703}" srcOrd="0" destOrd="0" presId="urn:microsoft.com/office/officeart/2005/8/layout/list1"/>
    <dgm:cxn modelId="{B9914C04-0F09-4C64-ACAF-9E34B8196590}" type="presParOf" srcId="{859EBA64-ED24-4271-BDD1-209F03A2397E}" destId="{5494F934-454B-489E-B5BC-A68EBA0E17BB}" srcOrd="1" destOrd="0" presId="urn:microsoft.com/office/officeart/2005/8/layout/list1"/>
    <dgm:cxn modelId="{DBBBC148-31E7-4F9E-930A-F448C38EB326}" type="presParOf" srcId="{9058488D-F491-4DAF-AB0C-C8C82626FDAC}" destId="{2AE7EC6D-511A-4310-AB8F-177E39678706}" srcOrd="9" destOrd="0" presId="urn:microsoft.com/office/officeart/2005/8/layout/list1"/>
    <dgm:cxn modelId="{85DC267C-78D5-4CA7-BC11-085B1C21C878}" type="presParOf" srcId="{9058488D-F491-4DAF-AB0C-C8C82626FDAC}" destId="{E8EE4F48-D1D8-4FDB-A805-A6D267108685}" srcOrd="10" destOrd="0" presId="urn:microsoft.com/office/officeart/2005/8/layout/list1"/>
    <dgm:cxn modelId="{6C745261-1F83-4C1C-B715-A82CD88A8473}" type="presParOf" srcId="{9058488D-F491-4DAF-AB0C-C8C82626FDAC}" destId="{70A48B31-1A64-45B2-A235-AA9DAD770380}" srcOrd="11" destOrd="0" presId="urn:microsoft.com/office/officeart/2005/8/layout/list1"/>
    <dgm:cxn modelId="{60CED653-AF26-4E27-B956-C9FFE3B77DAB}" type="presParOf" srcId="{9058488D-F491-4DAF-AB0C-C8C82626FDAC}" destId="{39575EC8-D66F-4F49-8941-5E352C1F4E2C}" srcOrd="12" destOrd="0" presId="urn:microsoft.com/office/officeart/2005/8/layout/list1"/>
    <dgm:cxn modelId="{29B1CEB0-6824-484A-AF7D-D66018C449F6}" type="presParOf" srcId="{39575EC8-D66F-4F49-8941-5E352C1F4E2C}" destId="{54C2A3B5-C5C8-48CA-A43C-7B0E5F54E5AF}" srcOrd="0" destOrd="0" presId="urn:microsoft.com/office/officeart/2005/8/layout/list1"/>
    <dgm:cxn modelId="{10CBA810-7E48-4587-867F-94890A4FEA90}" type="presParOf" srcId="{39575EC8-D66F-4F49-8941-5E352C1F4E2C}" destId="{3BBDCAE3-96E8-4CAC-A9E1-AC2C8A56548A}" srcOrd="1" destOrd="0" presId="urn:microsoft.com/office/officeart/2005/8/layout/list1"/>
    <dgm:cxn modelId="{5C276480-BE2F-4369-B682-D52F3F7AAC9E}" type="presParOf" srcId="{9058488D-F491-4DAF-AB0C-C8C82626FDAC}" destId="{2358A803-3B97-42DA-BAEC-4ACD7ADEF03D}" srcOrd="13" destOrd="0" presId="urn:microsoft.com/office/officeart/2005/8/layout/list1"/>
    <dgm:cxn modelId="{5B22CCD6-C6FF-47C7-8514-4511EF1967E3}" type="presParOf" srcId="{9058488D-F491-4DAF-AB0C-C8C82626FDAC}" destId="{8920D908-C7E4-41D4-BEA8-1A80443CF23D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1D5908F-D997-4074-8864-3CF6DBAF7ABD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6E0E58B-ADAA-4941-AD58-F0207147E65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Schools investing more in professional development generally experienced lower teacher turnover.</a:t>
          </a:r>
        </a:p>
      </dgm:t>
    </dgm:pt>
    <dgm:pt modelId="{EA7B6406-E79D-4142-9386-2B33D5149935}" type="parTrans" cxnId="{FE589ABD-FCD4-4922-9283-659EA56DD7D4}">
      <dgm:prSet/>
      <dgm:spPr/>
      <dgm:t>
        <a:bodyPr/>
        <a:lstStyle/>
        <a:p>
          <a:endParaRPr lang="en-US"/>
        </a:p>
      </dgm:t>
    </dgm:pt>
    <dgm:pt modelId="{512FE3D0-6504-4153-AB46-DF5F421127B2}" type="sibTrans" cxnId="{FE589ABD-FCD4-4922-9283-659EA56DD7D4}">
      <dgm:prSet/>
      <dgm:spPr/>
      <dgm:t>
        <a:bodyPr/>
        <a:lstStyle/>
        <a:p>
          <a:endParaRPr lang="en-US"/>
        </a:p>
      </dgm:t>
    </dgm:pt>
    <dgm:pt modelId="{DA261E36-6BBA-4A22-964B-E24373B65DA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Teacher turnover was associated with higher chronic absenteeism, suggesting staffing stability may influence student engagement.</a:t>
          </a:r>
        </a:p>
      </dgm:t>
    </dgm:pt>
    <dgm:pt modelId="{91077BD9-27F9-48E4-B856-2E03203C5407}" type="parTrans" cxnId="{36370D26-84E9-4FC0-9172-BA9B0C88747E}">
      <dgm:prSet/>
      <dgm:spPr/>
      <dgm:t>
        <a:bodyPr/>
        <a:lstStyle/>
        <a:p>
          <a:endParaRPr lang="en-US"/>
        </a:p>
      </dgm:t>
    </dgm:pt>
    <dgm:pt modelId="{6B2393C8-6102-468E-BDED-AA2717C3F4C4}" type="sibTrans" cxnId="{36370D26-84E9-4FC0-9172-BA9B0C88747E}">
      <dgm:prSet/>
      <dgm:spPr/>
      <dgm:t>
        <a:bodyPr/>
        <a:lstStyle/>
        <a:p>
          <a:endParaRPr lang="en-US"/>
        </a:p>
      </dgm:t>
    </dgm:pt>
    <dgm:pt modelId="{F6A007DC-9C6C-4185-8AC8-7CA6D5093BD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Fir Elementary provided a practical example of this relationship, increasing professional development spending while reducing turnover by 11%.</a:t>
          </a:r>
        </a:p>
      </dgm:t>
    </dgm:pt>
    <dgm:pt modelId="{4D9DBA02-F651-4448-9891-E8010769D249}" type="parTrans" cxnId="{274D901F-B791-414B-A544-BD43089FF431}">
      <dgm:prSet/>
      <dgm:spPr/>
      <dgm:t>
        <a:bodyPr/>
        <a:lstStyle/>
        <a:p>
          <a:endParaRPr lang="en-US"/>
        </a:p>
      </dgm:t>
    </dgm:pt>
    <dgm:pt modelId="{9E4BD88D-9C78-4E2A-BE47-0F79CB24DA29}" type="sibTrans" cxnId="{274D901F-B791-414B-A544-BD43089FF431}">
      <dgm:prSet/>
      <dgm:spPr/>
      <dgm:t>
        <a:bodyPr/>
        <a:lstStyle/>
        <a:p>
          <a:endParaRPr lang="en-US"/>
        </a:p>
      </dgm:t>
    </dgm:pt>
    <dgm:pt modelId="{06CB3143-9B33-4C24-8AB9-0CC6AA5D0F6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Professional development was the only budget variable showing a statistically significant relationship with teacher turnover.</a:t>
          </a:r>
        </a:p>
      </dgm:t>
    </dgm:pt>
    <dgm:pt modelId="{35432991-E448-49D7-8FEE-F336C39AAEA3}" type="parTrans" cxnId="{2A80CF96-73CD-44D3-ADEA-7F46F3DA3D7E}">
      <dgm:prSet/>
      <dgm:spPr/>
      <dgm:t>
        <a:bodyPr/>
        <a:lstStyle/>
        <a:p>
          <a:endParaRPr lang="en-US"/>
        </a:p>
      </dgm:t>
    </dgm:pt>
    <dgm:pt modelId="{6FEA649E-1B9C-44F1-92D2-318D5DE4C749}" type="sibTrans" cxnId="{2A80CF96-73CD-44D3-ADEA-7F46F3DA3D7E}">
      <dgm:prSet/>
      <dgm:spPr/>
      <dgm:t>
        <a:bodyPr/>
        <a:lstStyle/>
        <a:p>
          <a:endParaRPr lang="en-US"/>
        </a:p>
      </dgm:t>
    </dgm:pt>
    <dgm:pt modelId="{443EB7A1-094D-48F4-89FB-902BBB9E4EC4}" type="pres">
      <dgm:prSet presAssocID="{A1D5908F-D997-4074-8864-3CF6DBAF7ABD}" presName="root" presStyleCnt="0">
        <dgm:presLayoutVars>
          <dgm:dir/>
          <dgm:resizeHandles val="exact"/>
        </dgm:presLayoutVars>
      </dgm:prSet>
      <dgm:spPr/>
    </dgm:pt>
    <dgm:pt modelId="{33EC11DC-B900-4D05-96D8-07D5478C78EE}" type="pres">
      <dgm:prSet presAssocID="{E6E0E58B-ADAA-4941-AD58-F0207147E65D}" presName="compNode" presStyleCnt="0"/>
      <dgm:spPr/>
    </dgm:pt>
    <dgm:pt modelId="{5800E61E-86FB-4919-96C2-FAE2B03C13AA}" type="pres">
      <dgm:prSet presAssocID="{E6E0E58B-ADAA-4941-AD58-F0207147E65D}" presName="bgRect" presStyleLbl="bgShp" presStyleIdx="0" presStyleCnt="4"/>
      <dgm:spPr/>
    </dgm:pt>
    <dgm:pt modelId="{A992B6B0-BE6E-4E15-A474-2F7BBBDD5B65}" type="pres">
      <dgm:prSet presAssocID="{E6E0E58B-ADAA-4941-AD58-F0207147E65D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E0A81512-16D2-480E-81DF-76DFA34EFF03}" type="pres">
      <dgm:prSet presAssocID="{E6E0E58B-ADAA-4941-AD58-F0207147E65D}" presName="spaceRect" presStyleCnt="0"/>
      <dgm:spPr/>
    </dgm:pt>
    <dgm:pt modelId="{AED26985-4004-416A-9435-A4DD5FBAD6ED}" type="pres">
      <dgm:prSet presAssocID="{E6E0E58B-ADAA-4941-AD58-F0207147E65D}" presName="parTx" presStyleLbl="revTx" presStyleIdx="0" presStyleCnt="4">
        <dgm:presLayoutVars>
          <dgm:chMax val="0"/>
          <dgm:chPref val="0"/>
        </dgm:presLayoutVars>
      </dgm:prSet>
      <dgm:spPr/>
    </dgm:pt>
    <dgm:pt modelId="{C657B09D-6127-4469-92ED-AA2FD6AC3D93}" type="pres">
      <dgm:prSet presAssocID="{512FE3D0-6504-4153-AB46-DF5F421127B2}" presName="sibTrans" presStyleCnt="0"/>
      <dgm:spPr/>
    </dgm:pt>
    <dgm:pt modelId="{D59A45EE-AD7D-4FBB-B5F9-66DA351EAFE1}" type="pres">
      <dgm:prSet presAssocID="{DA261E36-6BBA-4A22-964B-E24373B65DA8}" presName="compNode" presStyleCnt="0"/>
      <dgm:spPr/>
    </dgm:pt>
    <dgm:pt modelId="{9B845474-4950-4444-9EE8-1697A688F54D}" type="pres">
      <dgm:prSet presAssocID="{DA261E36-6BBA-4A22-964B-E24373B65DA8}" presName="bgRect" presStyleLbl="bgShp" presStyleIdx="1" presStyleCnt="4"/>
      <dgm:spPr/>
    </dgm:pt>
    <dgm:pt modelId="{BA5179AD-46D3-4B23-8AB7-12D729C19A7E}" type="pres">
      <dgm:prSet presAssocID="{DA261E36-6BBA-4A22-964B-E24373B65DA8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 Network"/>
        </a:ext>
      </dgm:extLst>
    </dgm:pt>
    <dgm:pt modelId="{9E90E497-34D1-498A-AC25-F09756D6548A}" type="pres">
      <dgm:prSet presAssocID="{DA261E36-6BBA-4A22-964B-E24373B65DA8}" presName="spaceRect" presStyleCnt="0"/>
      <dgm:spPr/>
    </dgm:pt>
    <dgm:pt modelId="{CA87E985-D67B-493B-85F6-8BE08AFF92AB}" type="pres">
      <dgm:prSet presAssocID="{DA261E36-6BBA-4A22-964B-E24373B65DA8}" presName="parTx" presStyleLbl="revTx" presStyleIdx="1" presStyleCnt="4">
        <dgm:presLayoutVars>
          <dgm:chMax val="0"/>
          <dgm:chPref val="0"/>
        </dgm:presLayoutVars>
      </dgm:prSet>
      <dgm:spPr/>
    </dgm:pt>
    <dgm:pt modelId="{4DDC8A88-1B29-4C59-BBC5-06641980E469}" type="pres">
      <dgm:prSet presAssocID="{6B2393C8-6102-468E-BDED-AA2717C3F4C4}" presName="sibTrans" presStyleCnt="0"/>
      <dgm:spPr/>
    </dgm:pt>
    <dgm:pt modelId="{7AF4CBE7-8B2F-4027-935A-C6B7EFB11C66}" type="pres">
      <dgm:prSet presAssocID="{F6A007DC-9C6C-4185-8AC8-7CA6D5093BD8}" presName="compNode" presStyleCnt="0"/>
      <dgm:spPr/>
    </dgm:pt>
    <dgm:pt modelId="{F5F0124D-E044-4E48-9491-B40ADDE1B06C}" type="pres">
      <dgm:prSet presAssocID="{F6A007DC-9C6C-4185-8AC8-7CA6D5093BD8}" presName="bgRect" presStyleLbl="bgShp" presStyleIdx="2" presStyleCnt="4"/>
      <dgm:spPr/>
    </dgm:pt>
    <dgm:pt modelId="{B3115302-FEF6-49E6-B98B-575F46694C63}" type="pres">
      <dgm:prSet presAssocID="{F6A007DC-9C6C-4185-8AC8-7CA6D5093BD8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r tree"/>
        </a:ext>
      </dgm:extLst>
    </dgm:pt>
    <dgm:pt modelId="{3EB58862-EC3D-4149-AB36-09259B4E7F66}" type="pres">
      <dgm:prSet presAssocID="{F6A007DC-9C6C-4185-8AC8-7CA6D5093BD8}" presName="spaceRect" presStyleCnt="0"/>
      <dgm:spPr/>
    </dgm:pt>
    <dgm:pt modelId="{C5E54F56-5B08-403A-BE2F-B55D358FD33A}" type="pres">
      <dgm:prSet presAssocID="{F6A007DC-9C6C-4185-8AC8-7CA6D5093BD8}" presName="parTx" presStyleLbl="revTx" presStyleIdx="2" presStyleCnt="4">
        <dgm:presLayoutVars>
          <dgm:chMax val="0"/>
          <dgm:chPref val="0"/>
        </dgm:presLayoutVars>
      </dgm:prSet>
      <dgm:spPr/>
    </dgm:pt>
    <dgm:pt modelId="{08BB02AA-4A70-4CB5-8A6D-2AB94A17C17B}" type="pres">
      <dgm:prSet presAssocID="{9E4BD88D-9C78-4E2A-BE47-0F79CB24DA29}" presName="sibTrans" presStyleCnt="0"/>
      <dgm:spPr/>
    </dgm:pt>
    <dgm:pt modelId="{69350913-75EA-4251-B31E-6A6F85A2FAF6}" type="pres">
      <dgm:prSet presAssocID="{06CB3143-9B33-4C24-8AB9-0CC6AA5D0F66}" presName="compNode" presStyleCnt="0"/>
      <dgm:spPr/>
    </dgm:pt>
    <dgm:pt modelId="{3924204E-6F75-47F7-8F33-AFF3FE4C1C25}" type="pres">
      <dgm:prSet presAssocID="{06CB3143-9B33-4C24-8AB9-0CC6AA5D0F66}" presName="bgRect" presStyleLbl="bgShp" presStyleIdx="3" presStyleCnt="4"/>
      <dgm:spPr/>
    </dgm:pt>
    <dgm:pt modelId="{D2C03888-C39B-4795-BCCB-7E802A511E0F}" type="pres">
      <dgm:prSet presAssocID="{06CB3143-9B33-4C24-8AB9-0CC6AA5D0F66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vron Arrows"/>
        </a:ext>
      </dgm:extLst>
    </dgm:pt>
    <dgm:pt modelId="{BB20E498-ADF7-4FC5-8F62-4160A8374538}" type="pres">
      <dgm:prSet presAssocID="{06CB3143-9B33-4C24-8AB9-0CC6AA5D0F66}" presName="spaceRect" presStyleCnt="0"/>
      <dgm:spPr/>
    </dgm:pt>
    <dgm:pt modelId="{B6D3BB24-BBD6-42C0-9CF6-A87DE67A1CCE}" type="pres">
      <dgm:prSet presAssocID="{06CB3143-9B33-4C24-8AB9-0CC6AA5D0F66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274D901F-B791-414B-A544-BD43089FF431}" srcId="{A1D5908F-D997-4074-8864-3CF6DBAF7ABD}" destId="{F6A007DC-9C6C-4185-8AC8-7CA6D5093BD8}" srcOrd="2" destOrd="0" parTransId="{4D9DBA02-F651-4448-9891-E8010769D249}" sibTransId="{9E4BD88D-9C78-4E2A-BE47-0F79CB24DA29}"/>
    <dgm:cxn modelId="{36370D26-84E9-4FC0-9172-BA9B0C88747E}" srcId="{A1D5908F-D997-4074-8864-3CF6DBAF7ABD}" destId="{DA261E36-6BBA-4A22-964B-E24373B65DA8}" srcOrd="1" destOrd="0" parTransId="{91077BD9-27F9-48E4-B856-2E03203C5407}" sibTransId="{6B2393C8-6102-468E-BDED-AA2717C3F4C4}"/>
    <dgm:cxn modelId="{98457664-5F3F-458A-9037-9D33AA11B733}" type="presOf" srcId="{F6A007DC-9C6C-4185-8AC8-7CA6D5093BD8}" destId="{C5E54F56-5B08-403A-BE2F-B55D358FD33A}" srcOrd="0" destOrd="0" presId="urn:microsoft.com/office/officeart/2018/2/layout/IconVerticalSolidList"/>
    <dgm:cxn modelId="{3C443894-9179-495B-A843-818568954937}" type="presOf" srcId="{A1D5908F-D997-4074-8864-3CF6DBAF7ABD}" destId="{443EB7A1-094D-48F4-89FB-902BBB9E4EC4}" srcOrd="0" destOrd="0" presId="urn:microsoft.com/office/officeart/2018/2/layout/IconVerticalSolidList"/>
    <dgm:cxn modelId="{2A80CF96-73CD-44D3-ADEA-7F46F3DA3D7E}" srcId="{A1D5908F-D997-4074-8864-3CF6DBAF7ABD}" destId="{06CB3143-9B33-4C24-8AB9-0CC6AA5D0F66}" srcOrd="3" destOrd="0" parTransId="{35432991-E448-49D7-8FEE-F336C39AAEA3}" sibTransId="{6FEA649E-1B9C-44F1-92D2-318D5DE4C749}"/>
    <dgm:cxn modelId="{ED04E4BB-5220-4FD4-B9D4-EDEBECA7AA6A}" type="presOf" srcId="{E6E0E58B-ADAA-4941-AD58-F0207147E65D}" destId="{AED26985-4004-416A-9435-A4DD5FBAD6ED}" srcOrd="0" destOrd="0" presId="urn:microsoft.com/office/officeart/2018/2/layout/IconVerticalSolidList"/>
    <dgm:cxn modelId="{FE589ABD-FCD4-4922-9283-659EA56DD7D4}" srcId="{A1D5908F-D997-4074-8864-3CF6DBAF7ABD}" destId="{E6E0E58B-ADAA-4941-AD58-F0207147E65D}" srcOrd="0" destOrd="0" parTransId="{EA7B6406-E79D-4142-9386-2B33D5149935}" sibTransId="{512FE3D0-6504-4153-AB46-DF5F421127B2}"/>
    <dgm:cxn modelId="{9DCB62EC-25C1-41FC-8693-C1C0EB282D83}" type="presOf" srcId="{06CB3143-9B33-4C24-8AB9-0CC6AA5D0F66}" destId="{B6D3BB24-BBD6-42C0-9CF6-A87DE67A1CCE}" srcOrd="0" destOrd="0" presId="urn:microsoft.com/office/officeart/2018/2/layout/IconVerticalSolidList"/>
    <dgm:cxn modelId="{279158ED-F891-4535-A321-7777F2A3DF12}" type="presOf" srcId="{DA261E36-6BBA-4A22-964B-E24373B65DA8}" destId="{CA87E985-D67B-493B-85F6-8BE08AFF92AB}" srcOrd="0" destOrd="0" presId="urn:microsoft.com/office/officeart/2018/2/layout/IconVerticalSolidList"/>
    <dgm:cxn modelId="{E4E29E7D-DB55-437D-8294-F9BF35A242E2}" type="presParOf" srcId="{443EB7A1-094D-48F4-89FB-902BBB9E4EC4}" destId="{33EC11DC-B900-4D05-96D8-07D5478C78EE}" srcOrd="0" destOrd="0" presId="urn:microsoft.com/office/officeart/2018/2/layout/IconVerticalSolidList"/>
    <dgm:cxn modelId="{70841553-9C8D-49C2-86BE-715FCEF27D90}" type="presParOf" srcId="{33EC11DC-B900-4D05-96D8-07D5478C78EE}" destId="{5800E61E-86FB-4919-96C2-FAE2B03C13AA}" srcOrd="0" destOrd="0" presId="urn:microsoft.com/office/officeart/2018/2/layout/IconVerticalSolidList"/>
    <dgm:cxn modelId="{290EE19C-1A23-43C8-A13F-3E940171078D}" type="presParOf" srcId="{33EC11DC-B900-4D05-96D8-07D5478C78EE}" destId="{A992B6B0-BE6E-4E15-A474-2F7BBBDD5B65}" srcOrd="1" destOrd="0" presId="urn:microsoft.com/office/officeart/2018/2/layout/IconVerticalSolidList"/>
    <dgm:cxn modelId="{0A0C1FE8-4951-42E5-84A2-A7C27D9E74A9}" type="presParOf" srcId="{33EC11DC-B900-4D05-96D8-07D5478C78EE}" destId="{E0A81512-16D2-480E-81DF-76DFA34EFF03}" srcOrd="2" destOrd="0" presId="urn:microsoft.com/office/officeart/2018/2/layout/IconVerticalSolidList"/>
    <dgm:cxn modelId="{1E353682-72C8-4783-B317-6C89534423B3}" type="presParOf" srcId="{33EC11DC-B900-4D05-96D8-07D5478C78EE}" destId="{AED26985-4004-416A-9435-A4DD5FBAD6ED}" srcOrd="3" destOrd="0" presId="urn:microsoft.com/office/officeart/2018/2/layout/IconVerticalSolidList"/>
    <dgm:cxn modelId="{4E587C0F-4C22-421D-8146-F01CD9B9C1C9}" type="presParOf" srcId="{443EB7A1-094D-48F4-89FB-902BBB9E4EC4}" destId="{C657B09D-6127-4469-92ED-AA2FD6AC3D93}" srcOrd="1" destOrd="0" presId="urn:microsoft.com/office/officeart/2018/2/layout/IconVerticalSolidList"/>
    <dgm:cxn modelId="{6532241C-3F30-4501-A46B-14647B297555}" type="presParOf" srcId="{443EB7A1-094D-48F4-89FB-902BBB9E4EC4}" destId="{D59A45EE-AD7D-4FBB-B5F9-66DA351EAFE1}" srcOrd="2" destOrd="0" presId="urn:microsoft.com/office/officeart/2018/2/layout/IconVerticalSolidList"/>
    <dgm:cxn modelId="{4637D591-DE29-4986-864D-BB27D6BC8D69}" type="presParOf" srcId="{D59A45EE-AD7D-4FBB-B5F9-66DA351EAFE1}" destId="{9B845474-4950-4444-9EE8-1697A688F54D}" srcOrd="0" destOrd="0" presId="urn:microsoft.com/office/officeart/2018/2/layout/IconVerticalSolidList"/>
    <dgm:cxn modelId="{3EFFC608-570D-4A70-9259-2C1DC65D5A5B}" type="presParOf" srcId="{D59A45EE-AD7D-4FBB-B5F9-66DA351EAFE1}" destId="{BA5179AD-46D3-4B23-8AB7-12D729C19A7E}" srcOrd="1" destOrd="0" presId="urn:microsoft.com/office/officeart/2018/2/layout/IconVerticalSolidList"/>
    <dgm:cxn modelId="{C7BBB003-639F-4A8C-8306-B85B750B19BC}" type="presParOf" srcId="{D59A45EE-AD7D-4FBB-B5F9-66DA351EAFE1}" destId="{9E90E497-34D1-498A-AC25-F09756D6548A}" srcOrd="2" destOrd="0" presId="urn:microsoft.com/office/officeart/2018/2/layout/IconVerticalSolidList"/>
    <dgm:cxn modelId="{16361D78-CC36-44A2-8119-75C0A3334548}" type="presParOf" srcId="{D59A45EE-AD7D-4FBB-B5F9-66DA351EAFE1}" destId="{CA87E985-D67B-493B-85F6-8BE08AFF92AB}" srcOrd="3" destOrd="0" presId="urn:microsoft.com/office/officeart/2018/2/layout/IconVerticalSolidList"/>
    <dgm:cxn modelId="{D72E6796-A4F1-43C3-8449-C86B6A730A9A}" type="presParOf" srcId="{443EB7A1-094D-48F4-89FB-902BBB9E4EC4}" destId="{4DDC8A88-1B29-4C59-BBC5-06641980E469}" srcOrd="3" destOrd="0" presId="urn:microsoft.com/office/officeart/2018/2/layout/IconVerticalSolidList"/>
    <dgm:cxn modelId="{FFCD09A8-DD00-49BF-8F44-68AF67CD7EA9}" type="presParOf" srcId="{443EB7A1-094D-48F4-89FB-902BBB9E4EC4}" destId="{7AF4CBE7-8B2F-4027-935A-C6B7EFB11C66}" srcOrd="4" destOrd="0" presId="urn:microsoft.com/office/officeart/2018/2/layout/IconVerticalSolidList"/>
    <dgm:cxn modelId="{E8A9F726-6D63-4B63-86E6-EEE0E9797696}" type="presParOf" srcId="{7AF4CBE7-8B2F-4027-935A-C6B7EFB11C66}" destId="{F5F0124D-E044-4E48-9491-B40ADDE1B06C}" srcOrd="0" destOrd="0" presId="urn:microsoft.com/office/officeart/2018/2/layout/IconVerticalSolidList"/>
    <dgm:cxn modelId="{6BF2C2E0-463D-460F-88E4-D6F3543BF180}" type="presParOf" srcId="{7AF4CBE7-8B2F-4027-935A-C6B7EFB11C66}" destId="{B3115302-FEF6-49E6-B98B-575F46694C63}" srcOrd="1" destOrd="0" presId="urn:microsoft.com/office/officeart/2018/2/layout/IconVerticalSolidList"/>
    <dgm:cxn modelId="{4A9D48D4-9BC3-4608-9E99-BFFAEE35D663}" type="presParOf" srcId="{7AF4CBE7-8B2F-4027-935A-C6B7EFB11C66}" destId="{3EB58862-EC3D-4149-AB36-09259B4E7F66}" srcOrd="2" destOrd="0" presId="urn:microsoft.com/office/officeart/2018/2/layout/IconVerticalSolidList"/>
    <dgm:cxn modelId="{45CC22C9-9F02-42E7-82A1-0CB91C8A0E68}" type="presParOf" srcId="{7AF4CBE7-8B2F-4027-935A-C6B7EFB11C66}" destId="{C5E54F56-5B08-403A-BE2F-B55D358FD33A}" srcOrd="3" destOrd="0" presId="urn:microsoft.com/office/officeart/2018/2/layout/IconVerticalSolidList"/>
    <dgm:cxn modelId="{645646B9-829F-4D65-B746-E499CF885E53}" type="presParOf" srcId="{443EB7A1-094D-48F4-89FB-902BBB9E4EC4}" destId="{08BB02AA-4A70-4CB5-8A6D-2AB94A17C17B}" srcOrd="5" destOrd="0" presId="urn:microsoft.com/office/officeart/2018/2/layout/IconVerticalSolidList"/>
    <dgm:cxn modelId="{288C83E3-B183-42BB-B8C4-987C15558BE1}" type="presParOf" srcId="{443EB7A1-094D-48F4-89FB-902BBB9E4EC4}" destId="{69350913-75EA-4251-B31E-6A6F85A2FAF6}" srcOrd="6" destOrd="0" presId="urn:microsoft.com/office/officeart/2018/2/layout/IconVerticalSolidList"/>
    <dgm:cxn modelId="{24955B5D-C53D-4DF2-B473-CB765BCB8AB6}" type="presParOf" srcId="{69350913-75EA-4251-B31E-6A6F85A2FAF6}" destId="{3924204E-6F75-47F7-8F33-AFF3FE4C1C25}" srcOrd="0" destOrd="0" presId="urn:microsoft.com/office/officeart/2018/2/layout/IconVerticalSolidList"/>
    <dgm:cxn modelId="{912F3E38-748D-4A42-8FAA-1FE158388EE8}" type="presParOf" srcId="{69350913-75EA-4251-B31E-6A6F85A2FAF6}" destId="{D2C03888-C39B-4795-BCCB-7E802A511E0F}" srcOrd="1" destOrd="0" presId="urn:microsoft.com/office/officeart/2018/2/layout/IconVerticalSolidList"/>
    <dgm:cxn modelId="{2247840D-8CE3-44F8-886E-27ACE928FE62}" type="presParOf" srcId="{69350913-75EA-4251-B31E-6A6F85A2FAF6}" destId="{BB20E498-ADF7-4FC5-8F62-4160A8374538}" srcOrd="2" destOrd="0" presId="urn:microsoft.com/office/officeart/2018/2/layout/IconVerticalSolidList"/>
    <dgm:cxn modelId="{D3565DA6-C1B0-4C2D-A3D5-CDFFA80933F0}" type="presParOf" srcId="{69350913-75EA-4251-B31E-6A6F85A2FAF6}" destId="{B6D3BB24-BBD6-42C0-9CF6-A87DE67A1CC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8A7E19-5758-4DC5-8243-90BB8589103A}">
      <dsp:nvSpPr>
        <dsp:cNvPr id="0" name=""/>
        <dsp:cNvSpPr/>
      </dsp:nvSpPr>
      <dsp:spPr>
        <a:xfrm>
          <a:off x="0" y="254101"/>
          <a:ext cx="6263640" cy="7371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6128" tIns="270764" rIns="486128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Identify why some schools outperform others and determine where district resources should be focused.</a:t>
          </a:r>
        </a:p>
      </dsp:txBody>
      <dsp:txXfrm>
        <a:off x="0" y="254101"/>
        <a:ext cx="6263640" cy="737100"/>
      </dsp:txXfrm>
    </dsp:sp>
    <dsp:sp modelId="{A6E0CD17-4A10-4C78-A9F1-CB431EEED8C1}">
      <dsp:nvSpPr>
        <dsp:cNvPr id="0" name=""/>
        <dsp:cNvSpPr/>
      </dsp:nvSpPr>
      <dsp:spPr>
        <a:xfrm>
          <a:off x="313182" y="62221"/>
          <a:ext cx="4384548" cy="38376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725" tIns="0" rIns="165725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1. Purpose</a:t>
          </a:r>
          <a:endParaRPr lang="en-US" sz="1300" kern="1200" dirty="0"/>
        </a:p>
      </dsp:txBody>
      <dsp:txXfrm>
        <a:off x="331916" y="80955"/>
        <a:ext cx="4347080" cy="346292"/>
      </dsp:txXfrm>
    </dsp:sp>
    <dsp:sp modelId="{287AFB87-1FEA-4B8A-B805-05A0BF729495}">
      <dsp:nvSpPr>
        <dsp:cNvPr id="0" name=""/>
        <dsp:cNvSpPr/>
      </dsp:nvSpPr>
      <dsp:spPr>
        <a:xfrm>
          <a:off x="0" y="1253281"/>
          <a:ext cx="6263640" cy="98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-4050717"/>
              <a:satOff val="-275"/>
              <a:lumOff val="65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6128" tIns="270764" rIns="486128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ELA and Math Proficiency </a:t>
          </a:r>
          <a:r>
            <a:rPr lang="en-US" sz="1300" kern="1200" dirty="0" err="1"/>
            <a:t>percetages</a:t>
          </a:r>
          <a:r>
            <a:rPr lang="en-US" sz="1300" kern="1200" dirty="0"/>
            <a:t> (12 schools).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D/F course grade rates (four combined Middle and High schools).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Cohort reading performance (eight Elementary Schools).</a:t>
          </a:r>
        </a:p>
      </dsp:txBody>
      <dsp:txXfrm>
        <a:off x="0" y="1253281"/>
        <a:ext cx="6263640" cy="982800"/>
      </dsp:txXfrm>
    </dsp:sp>
    <dsp:sp modelId="{E4BC1485-20F0-4215-BD98-1196B99D03BC}">
      <dsp:nvSpPr>
        <dsp:cNvPr id="0" name=""/>
        <dsp:cNvSpPr/>
      </dsp:nvSpPr>
      <dsp:spPr>
        <a:xfrm>
          <a:off x="313182" y="1061401"/>
          <a:ext cx="4384548" cy="383760"/>
        </a:xfrm>
        <a:prstGeom prst="roundRect">
          <a:avLst/>
        </a:prstGeom>
        <a:solidFill>
          <a:schemeClr val="accent5">
            <a:hueOff val="-4050717"/>
            <a:satOff val="-275"/>
            <a:lumOff val="65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725" tIns="0" rIns="165725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2. Analyze Scores and Performance Metrics</a:t>
          </a:r>
          <a:endParaRPr lang="en-US" sz="1300" kern="1200"/>
        </a:p>
      </dsp:txBody>
      <dsp:txXfrm>
        <a:off x="331916" y="1080135"/>
        <a:ext cx="4347080" cy="346292"/>
      </dsp:txXfrm>
    </dsp:sp>
    <dsp:sp modelId="{E8EE4F48-D1D8-4FDB-A805-A6D267108685}">
      <dsp:nvSpPr>
        <dsp:cNvPr id="0" name=""/>
        <dsp:cNvSpPr/>
      </dsp:nvSpPr>
      <dsp:spPr>
        <a:xfrm>
          <a:off x="0" y="2498161"/>
          <a:ext cx="6263640" cy="11670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-8101434"/>
              <a:satOff val="-551"/>
              <a:lumOff val="130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6128" tIns="270764" rIns="486128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Student demographics and attendance records.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Staffing metrics including student-teacher ratios, vacancies, and teacher turnover.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Budget and financial allocation.	</a:t>
          </a:r>
        </a:p>
      </dsp:txBody>
      <dsp:txXfrm>
        <a:off x="0" y="2498161"/>
        <a:ext cx="6263640" cy="1167075"/>
      </dsp:txXfrm>
    </dsp:sp>
    <dsp:sp modelId="{5494F934-454B-489E-B5BC-A68EBA0E17BB}">
      <dsp:nvSpPr>
        <dsp:cNvPr id="0" name=""/>
        <dsp:cNvSpPr/>
      </dsp:nvSpPr>
      <dsp:spPr>
        <a:xfrm>
          <a:off x="313182" y="2306281"/>
          <a:ext cx="4384548" cy="383760"/>
        </a:xfrm>
        <a:prstGeom prst="roundRect">
          <a:avLst/>
        </a:prstGeom>
        <a:solidFill>
          <a:schemeClr val="accent5">
            <a:hueOff val="-8101434"/>
            <a:satOff val="-551"/>
            <a:lumOff val="13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725" tIns="0" rIns="165725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3. Investigate Potential Drivers</a:t>
          </a:r>
          <a:endParaRPr lang="en-US" sz="1300" kern="1200"/>
        </a:p>
      </dsp:txBody>
      <dsp:txXfrm>
        <a:off x="331916" y="2325015"/>
        <a:ext cx="4347080" cy="346292"/>
      </dsp:txXfrm>
    </dsp:sp>
    <dsp:sp modelId="{8920D908-C7E4-41D4-BEA8-1A80443CF23D}">
      <dsp:nvSpPr>
        <dsp:cNvPr id="0" name=""/>
        <dsp:cNvSpPr/>
      </dsp:nvSpPr>
      <dsp:spPr>
        <a:xfrm>
          <a:off x="0" y="3927316"/>
          <a:ext cx="6263640" cy="15151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6128" tIns="270764" rIns="486128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Demographic and attendance factors explained much of the variation in school performance.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Schools with higher teacher turnover also experienced higher absenteeism rates.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Financial budget and allocation recommendations to improve turnover and student scores.</a:t>
          </a:r>
        </a:p>
      </dsp:txBody>
      <dsp:txXfrm>
        <a:off x="0" y="3927316"/>
        <a:ext cx="6263640" cy="1515150"/>
      </dsp:txXfrm>
    </dsp:sp>
    <dsp:sp modelId="{3BBDCAE3-96E8-4CAC-A9E1-AC2C8A56548A}">
      <dsp:nvSpPr>
        <dsp:cNvPr id="0" name=""/>
        <dsp:cNvSpPr/>
      </dsp:nvSpPr>
      <dsp:spPr>
        <a:xfrm>
          <a:off x="313182" y="3735436"/>
          <a:ext cx="4384548" cy="38376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725" tIns="0" rIns="165725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4. Discovery and Recommendations</a:t>
          </a:r>
          <a:endParaRPr lang="en-US" sz="1300" kern="1200"/>
        </a:p>
      </dsp:txBody>
      <dsp:txXfrm>
        <a:off x="331916" y="3754170"/>
        <a:ext cx="4347080" cy="34629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00E61E-86FB-4919-96C2-FAE2B03C13AA}">
      <dsp:nvSpPr>
        <dsp:cNvPr id="0" name=""/>
        <dsp:cNvSpPr/>
      </dsp:nvSpPr>
      <dsp:spPr>
        <a:xfrm>
          <a:off x="0" y="2798"/>
          <a:ext cx="4791456" cy="96811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92B6B0-BE6E-4E15-A474-2F7BBBDD5B65}">
      <dsp:nvSpPr>
        <dsp:cNvPr id="0" name=""/>
        <dsp:cNvSpPr/>
      </dsp:nvSpPr>
      <dsp:spPr>
        <a:xfrm>
          <a:off x="292855" y="220625"/>
          <a:ext cx="532985" cy="53246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D26985-4004-416A-9435-A4DD5FBAD6ED}">
      <dsp:nvSpPr>
        <dsp:cNvPr id="0" name=""/>
        <dsp:cNvSpPr/>
      </dsp:nvSpPr>
      <dsp:spPr>
        <a:xfrm>
          <a:off x="1118697" y="2798"/>
          <a:ext cx="3424154" cy="9690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559" tIns="102559" rIns="102559" bIns="102559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Schools investing more in professional development generally experienced lower teacher turnover.</a:t>
          </a:r>
        </a:p>
      </dsp:txBody>
      <dsp:txXfrm>
        <a:off x="1118697" y="2798"/>
        <a:ext cx="3424154" cy="969064"/>
      </dsp:txXfrm>
    </dsp:sp>
    <dsp:sp modelId="{9B845474-4950-4444-9EE8-1697A688F54D}">
      <dsp:nvSpPr>
        <dsp:cNvPr id="0" name=""/>
        <dsp:cNvSpPr/>
      </dsp:nvSpPr>
      <dsp:spPr>
        <a:xfrm>
          <a:off x="0" y="1206788"/>
          <a:ext cx="4791456" cy="96811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5179AD-46D3-4B23-8AB7-12D729C19A7E}">
      <dsp:nvSpPr>
        <dsp:cNvPr id="0" name=""/>
        <dsp:cNvSpPr/>
      </dsp:nvSpPr>
      <dsp:spPr>
        <a:xfrm>
          <a:off x="292855" y="1424615"/>
          <a:ext cx="532985" cy="53246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87E985-D67B-493B-85F6-8BE08AFF92AB}">
      <dsp:nvSpPr>
        <dsp:cNvPr id="0" name=""/>
        <dsp:cNvSpPr/>
      </dsp:nvSpPr>
      <dsp:spPr>
        <a:xfrm>
          <a:off x="1118697" y="1206788"/>
          <a:ext cx="3424154" cy="9690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559" tIns="102559" rIns="102559" bIns="102559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Teacher turnover was associated with higher chronic absenteeism, suggesting staffing stability may influence student engagement.</a:t>
          </a:r>
        </a:p>
      </dsp:txBody>
      <dsp:txXfrm>
        <a:off x="1118697" y="1206788"/>
        <a:ext cx="3424154" cy="969064"/>
      </dsp:txXfrm>
    </dsp:sp>
    <dsp:sp modelId="{F5F0124D-E044-4E48-9491-B40ADDE1B06C}">
      <dsp:nvSpPr>
        <dsp:cNvPr id="0" name=""/>
        <dsp:cNvSpPr/>
      </dsp:nvSpPr>
      <dsp:spPr>
        <a:xfrm>
          <a:off x="0" y="2410777"/>
          <a:ext cx="4791456" cy="96811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115302-FEF6-49E6-B98B-575F46694C63}">
      <dsp:nvSpPr>
        <dsp:cNvPr id="0" name=""/>
        <dsp:cNvSpPr/>
      </dsp:nvSpPr>
      <dsp:spPr>
        <a:xfrm>
          <a:off x="292855" y="2628604"/>
          <a:ext cx="532985" cy="53246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E54F56-5B08-403A-BE2F-B55D358FD33A}">
      <dsp:nvSpPr>
        <dsp:cNvPr id="0" name=""/>
        <dsp:cNvSpPr/>
      </dsp:nvSpPr>
      <dsp:spPr>
        <a:xfrm>
          <a:off x="1118697" y="2410777"/>
          <a:ext cx="3424154" cy="9690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559" tIns="102559" rIns="102559" bIns="102559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Fir Elementary provided a practical example of this relationship, increasing professional development spending while reducing turnover by 11%.</a:t>
          </a:r>
        </a:p>
      </dsp:txBody>
      <dsp:txXfrm>
        <a:off x="1118697" y="2410777"/>
        <a:ext cx="3424154" cy="969064"/>
      </dsp:txXfrm>
    </dsp:sp>
    <dsp:sp modelId="{3924204E-6F75-47F7-8F33-AFF3FE4C1C25}">
      <dsp:nvSpPr>
        <dsp:cNvPr id="0" name=""/>
        <dsp:cNvSpPr/>
      </dsp:nvSpPr>
      <dsp:spPr>
        <a:xfrm>
          <a:off x="0" y="3614767"/>
          <a:ext cx="4791456" cy="96811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C03888-C39B-4795-BCCB-7E802A511E0F}">
      <dsp:nvSpPr>
        <dsp:cNvPr id="0" name=""/>
        <dsp:cNvSpPr/>
      </dsp:nvSpPr>
      <dsp:spPr>
        <a:xfrm>
          <a:off x="292855" y="3832594"/>
          <a:ext cx="532985" cy="53246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D3BB24-BBD6-42C0-9CF6-A87DE67A1CCE}">
      <dsp:nvSpPr>
        <dsp:cNvPr id="0" name=""/>
        <dsp:cNvSpPr/>
      </dsp:nvSpPr>
      <dsp:spPr>
        <a:xfrm>
          <a:off x="1118697" y="3614767"/>
          <a:ext cx="3424154" cy="9690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559" tIns="102559" rIns="102559" bIns="102559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Professional development was the only budget variable showing a statistically significant relationship with teacher turnover.</a:t>
          </a:r>
        </a:p>
      </dsp:txBody>
      <dsp:txXfrm>
        <a:off x="1118697" y="3614767"/>
        <a:ext cx="3424154" cy="9690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CEF274-23B6-4A92-A71F-2B716FB5864E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2A99C9-FB89-4464-B4AD-EF5BD23156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268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3AED7-1FDB-D830-82DB-48E7155D3E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C2A3A9-7C3C-C4A4-3919-D30684EFD8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5FE3F2-7F5A-F792-99E8-C3C8EAF11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81301-F4CE-4297-A4CC-40B1C234A283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D5F6F0-0D31-843D-9D3B-D3ECF33F0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DC00FB-222E-1AB2-9623-E8D9A4D71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CC624-B466-4F58-B889-26EBCB38E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257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9AA97-D582-AA65-D571-52C55E00F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C55DC-FC1F-CA8B-A33C-EB84CB2372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5FBA6F-DFE4-084C-615B-B3369B6AE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81301-F4CE-4297-A4CC-40B1C234A283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A2A6BA-1CAE-35EA-C148-7FD863FD7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59F4FE-2583-ED99-4F70-8499F3B83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CC624-B466-4F58-B889-26EBCB38E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31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8C870-D79D-E44C-5D31-CFBE0AB85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49F0B1-BB37-5DC9-0EEE-2663097D54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CDB806-FC18-BB6A-3531-80E701EA7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81301-F4CE-4297-A4CC-40B1C234A283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809543-1C4F-C482-CD26-8E299C2FE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15A2F7-5190-A10E-BB65-F02AD0C17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CC624-B466-4F58-B889-26EBCB38E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401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3C039-3377-2DEE-F753-E41E278A9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3AA81-22FE-F76B-D3B3-3FE23E7E03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0A9506-A00E-DB22-86F1-E71582DBB6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A1371F-5060-B09D-F3F4-C9CBEDB97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81301-F4CE-4297-A4CC-40B1C234A283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7372EA-B2CC-E160-FFCB-B61C84BBF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767E91-C04B-440B-8EFD-678F8EA10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CC624-B466-4F58-B889-26EBCB38E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858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EF46E-7357-DD32-717B-A3231AAE4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878544-0AC7-4E52-EF24-4BC0060893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CAD34E-3E50-788F-F3CC-8B02622097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EC8FCD-1F4E-8C36-E2FB-BA21D71B3E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2D7456-5F14-A5D8-50D1-2C66B8FE3A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6D5348-50F0-4887-9EEF-BA88B673D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81301-F4CE-4297-A4CC-40B1C234A283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C9C841-3F33-CB9A-7CC5-457B46D17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AEA1A2-E308-3896-604E-88BE61D86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CC624-B466-4F58-B889-26EBCB38E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563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289AB-20B8-35E6-85D0-C54D68D66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EE3497-A15B-B24B-B6DF-378F2FA1C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81301-F4CE-4297-A4CC-40B1C234A283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BC0862-61E3-88AD-D7D1-C36EB9F19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A193C7-1784-2544-4667-F4D7C4AB3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CC624-B466-4F58-B889-26EBCB38E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385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29CFD0-614C-7FFF-8C31-D192A3BBC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81301-F4CE-4297-A4CC-40B1C234A283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113C30-564E-D501-FCE1-747EB7C3D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7160C-806D-15BC-1910-5D39E731C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CC624-B466-4F58-B889-26EBCB38E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906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E8A76-2D7E-5660-E057-4ED139825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BDE4B5-6EC7-459C-C213-B7A914D049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6AD43C-ADC5-4F94-A334-A924EB26F5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F98C87-E5B6-067E-197A-66B4EF736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81301-F4CE-4297-A4CC-40B1C234A283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CB8F9E-B818-AC09-C62F-28E7C4A70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F1D835-BC7F-C8A6-989D-5613A9918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CC624-B466-4F58-B889-26EBCB38E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968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1CF5C-15B8-4414-3EA3-30A831996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9EDF5F-4435-9D09-0D1B-D63A07A68C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4FD9B0-224A-DC72-BBB8-4BCD87CD9F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FB8D0A-039A-2D09-C3E1-C8442DB82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81301-F4CE-4297-A4CC-40B1C234A283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76BE17-F29F-CAC1-FBF5-471E54A78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0D7BE9-95D2-5D79-47AF-E5FE0643F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CC624-B466-4F58-B889-26EBCB38E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148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6B96B-B4EA-6D4B-F6EF-0498848D3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2CE060-383C-0F59-7ED2-CB8738BB62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2E2572-9A5B-1CBF-F4B3-ED74CFA2E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81301-F4CE-4297-A4CC-40B1C234A283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B172CF-4CB7-3ECB-9A7B-B1895BE30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2C972-B9C8-BF30-5F50-A6777132B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CC624-B466-4F58-B889-26EBCB38E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412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A9D036-4146-8381-840B-0FFADD48B1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10283F-8E37-9E27-BCFD-2DD9C90476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27805-6E33-3D12-968D-0C202C2BC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81301-F4CE-4297-A4CC-40B1C234A283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E199F8-787E-4080-1FC0-56874B066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CE117A-CE3F-7314-F3DD-74175DF50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CC624-B466-4F58-B889-26EBCB38E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793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A3C522-BF0D-CC89-6D26-C04457667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376C93-C32F-399E-28C0-A79898C1B8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0A4293-7426-86E3-5EB2-A9E308112B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E81301-F4CE-4297-A4CC-40B1C234A283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EFFE19-6F13-C6AC-7CDB-40C05ED900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7906D9-589D-B902-C058-505998CD23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0CC624-B466-4F58-B889-26EBCB38E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999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17BCC7-9677-F10A-C9E5-573B985E54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0430" y="583345"/>
            <a:ext cx="7160357" cy="4164820"/>
          </a:xfrm>
        </p:spPr>
        <p:txBody>
          <a:bodyPr anchor="t">
            <a:normAutofit fontScale="90000"/>
          </a:bodyPr>
          <a:lstStyle/>
          <a:p>
            <a:pPr algn="r"/>
            <a:r>
              <a:rPr lang="en-US" sz="6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Pinehill Unified School District Analysis and 	Recommendation	</a:t>
            </a:r>
            <a:endParaRPr lang="en-US" sz="68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DD19E8-480A-DE51-86EC-44B67E565A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8228" y="5972174"/>
            <a:ext cx="8578699" cy="504825"/>
          </a:xfrm>
        </p:spPr>
        <p:txBody>
          <a:bodyPr>
            <a:normAutofit/>
          </a:bodyPr>
          <a:lstStyle/>
          <a:p>
            <a:pPr algn="l"/>
            <a:r>
              <a:rPr lang="en-US" sz="2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Jared Oberg</a:t>
            </a:r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54203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E3E2F8-AC10-646F-98B9-3DB295EE8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9"/>
            <a:ext cx="3374136" cy="5567891"/>
          </a:xfrm>
        </p:spPr>
        <p:txBody>
          <a:bodyPr>
            <a:normAutofit/>
          </a:bodyPr>
          <a:lstStyle/>
          <a:p>
            <a:r>
              <a:rPr lang="en-US" sz="5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Approach to Analysis	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B3DB9531-0639-C2E9-E835-B4A93D7467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9460640"/>
              </p:ext>
            </p:extLst>
          </p:nvPr>
        </p:nvGraphicFramePr>
        <p:xfrm>
          <a:off x="5093208" y="620392"/>
          <a:ext cx="626364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83079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75FBFE-08E9-B171-88E8-2FD4E8478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&amp; Validation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2DB10CE-6881-9F46-8964-645B0D3CC776}"/>
              </a:ext>
            </a:extLst>
          </p:cNvPr>
          <p:cNvSpPr txBox="1"/>
          <p:nvPr/>
        </p:nvSpPr>
        <p:spPr>
          <a:xfrm>
            <a:off x="329184" y="2980945"/>
            <a:ext cx="7073799" cy="38770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Quality &amp; Cleaning</a:t>
            </a:r>
          </a:p>
          <a:p>
            <a:pPr marL="1714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 one duplicate record from the Grades dataset (Junction Middle School). </a:t>
            </a:r>
          </a:p>
          <a:p>
            <a:pPr marL="1714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undocumented race codes affecting 290 students (3.8% of records). </a:t>
            </a:r>
          </a:p>
          <a:p>
            <a:pPr marL="1714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Corrected a data-entry error in Elm Elementary's Books &amp; Supplies budget allocation ($2.13M; 952% of budget).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Reconciliation</a:t>
            </a:r>
          </a:p>
          <a:p>
            <a:pPr marL="1714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Site crosswalk file was incomplete and required manual reconciliation for Dogwood Elementary (PH-04). </a:t>
            </a:r>
          </a:p>
          <a:p>
            <a:pPr marL="1714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Mapped three different site ID systems. </a:t>
            </a:r>
          </a:p>
          <a:p>
            <a:pPr marL="1714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Standardized date formats. </a:t>
            </a:r>
          </a:p>
          <a:p>
            <a:pPr marL="1714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</a:t>
            </a:r>
          </a:p>
          <a:p>
            <a:pPr marL="1714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Derived chronic absenteeism. </a:t>
            </a:r>
          </a:p>
          <a:p>
            <a:pPr marL="1714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Calculated per-pupil spending.</a:t>
            </a:r>
          </a:p>
          <a:p>
            <a:pPr marL="1714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Calculated funding per student in need.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Challenges</a:t>
            </a:r>
          </a:p>
          <a:p>
            <a:pPr marL="1714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Student-level joins limited to SIS data. </a:t>
            </a:r>
          </a:p>
          <a:p>
            <a:pPr marL="1714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systems merged at school level. </a:t>
            </a:r>
          </a:p>
          <a:p>
            <a:pPr marL="1714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 descr="Books stacked on a table">
            <a:extLst>
              <a:ext uri="{FF2B5EF4-FFF2-40B4-BE49-F238E27FC236}">
                <a16:creationId xmlns:a16="http://schemas.microsoft.com/office/drawing/2014/main" id="{7AF0E07A-DAB5-8331-1CCD-7B391E5C73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628" r="19971" b="-2"/>
          <a:stretch>
            <a:fillRect/>
          </a:stretch>
        </p:blipFill>
        <p:spPr>
          <a:xfrm>
            <a:off x="7402983" y="1"/>
            <a:ext cx="479584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900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114ED94A-C85D-4CD3-4205-438D21CE6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9217" y="-1"/>
            <a:ext cx="5213267" cy="6883030"/>
            <a:chOff x="-19217" y="-1"/>
            <a:chExt cx="5213267" cy="688303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642BDB2-BF67-1D53-1C70-0B41D709E4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06" y="0"/>
              <a:ext cx="5204956" cy="688302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8E0D8CE-5DBF-B664-EB48-C29BF8AB4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-19217" y="1731909"/>
              <a:ext cx="5204963" cy="51444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DFD140CE-7DE2-C88F-5EAE-F45EB69E6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10" y="6723"/>
              <a:ext cx="3834567" cy="6876300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lumMod val="60000"/>
                    <a:lumOff val="40000"/>
                    <a:alpha val="78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557E87E3-413F-10EF-63D8-6016E986C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844601" y="833689"/>
              <a:ext cx="6872341" cy="5204961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CDA8F0-4BCB-8B7F-085A-B35437511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484" y="739835"/>
            <a:ext cx="3702580" cy="1616203"/>
          </a:xfrm>
        </p:spPr>
        <p:txBody>
          <a:bodyPr anchor="b">
            <a:normAutofit/>
          </a:bodyPr>
          <a:lstStyle/>
          <a:p>
            <a:r>
              <a:rPr lang="en-US" sz="3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Exploratory Analysis</a:t>
            </a:r>
            <a:endParaRPr lang="en-US" sz="32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ADE893A-C411-D029-F08D-3F63D9A13B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484" y="2459116"/>
            <a:ext cx="3702579" cy="35248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 Analysis - ELA/Math Scores</a:t>
            </a:r>
          </a:p>
          <a:p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Reviewed district ELA and Math proficiency rates across all schools from 2023-24 through 2025-26.</a:t>
            </a:r>
          </a:p>
          <a:p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Birch Elementary consistently achieved the highest proficiency rates in both ELA and Math.</a:t>
            </a:r>
          </a:p>
          <a:p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Granite Elementary consistently ranked lowest in proficiency across both ELA and Math and became a focus for further analysis.</a:t>
            </a:r>
            <a:endParaRPr lang="en-US" sz="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700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7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87D702-B780-DB97-BF8B-E9AB3537BFB5}"/>
              </a:ext>
            </a:extLst>
          </p:cNvPr>
          <p:cNvSpPr txBox="1"/>
          <p:nvPr/>
        </p:nvSpPr>
        <p:spPr>
          <a:xfrm>
            <a:off x="3033092" y="3492812"/>
            <a:ext cx="61059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0A4518D-7F9B-161E-29CB-E17C28653A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2344" y="1457739"/>
            <a:ext cx="6912813" cy="360459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20746A4-5839-9158-77DA-453B14CBA6B3}"/>
              </a:ext>
            </a:extLst>
          </p:cNvPr>
          <p:cNvSpPr txBox="1"/>
          <p:nvPr/>
        </p:nvSpPr>
        <p:spPr>
          <a:xfrm>
            <a:off x="5387009" y="5174974"/>
            <a:ext cx="62285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*Trend is the total score difference from 23/24 schoolyear to the 25/26 school year</a:t>
            </a:r>
          </a:p>
        </p:txBody>
      </p:sp>
    </p:spTree>
    <p:extLst>
      <p:ext uri="{BB962C8B-B14F-4D97-AF65-F5344CB8AC3E}">
        <p14:creationId xmlns:p14="http://schemas.microsoft.com/office/powerpoint/2010/main" val="18654347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114ED94A-C85D-4CD3-4205-438D21CE6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9217" y="-1"/>
            <a:ext cx="5213267" cy="6883030"/>
            <a:chOff x="-19217" y="-1"/>
            <a:chExt cx="5213267" cy="688303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642BDB2-BF67-1D53-1C70-0B41D709E4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06" y="0"/>
              <a:ext cx="5204956" cy="688302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8E0D8CE-5DBF-B664-EB48-C29BF8AB4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-19217" y="1731909"/>
              <a:ext cx="5204963" cy="51444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FD140CE-7DE2-C88F-5EAE-F45EB69E6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10" y="6723"/>
              <a:ext cx="3834567" cy="6876300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lumMod val="60000"/>
                    <a:lumOff val="40000"/>
                    <a:alpha val="78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57E87E3-413F-10EF-63D8-6016E986C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844601" y="833689"/>
              <a:ext cx="6872341" cy="5204961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4E2E679-3811-8089-E15B-EBE3730E7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484" y="739835"/>
            <a:ext cx="3702580" cy="161620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200" b="1" kern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Demographics &amp; Attendance</a:t>
            </a:r>
            <a:endParaRPr lang="en-US" sz="3200" kern="12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ADB7C2-20B9-9196-B92C-FA25B331AEE9}"/>
              </a:ext>
            </a:extLst>
          </p:cNvPr>
          <p:cNvSpPr txBox="1"/>
          <p:nvPr/>
        </p:nvSpPr>
        <p:spPr>
          <a:xfrm>
            <a:off x="755484" y="2459116"/>
            <a:ext cx="3702579" cy="35248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Schools with higher EL%, Free Lunch%, and SED% generally scored lower in ELA and Math.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Attendance measures (absence, tardies, chronic absenteeism) also aligned with lower performance.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Granite Elementary had the highest at-risk population and lowest assessment scores, while Birch Elementary showed the opposite pattern.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0D8FA3-ABC2-E0CD-86C8-51581CD587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8750" y="1653235"/>
            <a:ext cx="6470396" cy="3833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3589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C14A5A-CADB-47F8-C6EF-0793437B4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632C0-AB8A-8F0E-E074-3E1AE213F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0993"/>
            <a:ext cx="3687491" cy="159418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Demographic &amp; Attendance Relationships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503B0E-B337-227A-A6C5-92F94F73E135}"/>
              </a:ext>
            </a:extLst>
          </p:cNvPr>
          <p:cNvSpPr txBox="1"/>
          <p:nvPr/>
        </p:nvSpPr>
        <p:spPr>
          <a:xfrm>
            <a:off x="4917264" y="841205"/>
            <a:ext cx="6012254" cy="17664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171450" indent="-2286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EL% showed the strongest negative relationship with achievement (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= -0.98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171450" indent="-2286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 Lunch% was highly correlated with EL% (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= 0.96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making the two factors difficult to separate.</a:t>
            </a:r>
          </a:p>
          <a:p>
            <a:pPr marL="171450" indent="-2286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Attendance metrics were also associated with lower achievement, though less strongly than demographics.</a:t>
            </a:r>
          </a:p>
          <a:p>
            <a:pPr marL="171450" indent="-2286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Combined demographic and attendance variables explained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94% of score variation (R² = 0.94)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628650" lvl="1" indent="-2286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2221BB3-7B5D-C899-7745-66D7AC3232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FD2D571-38D7-DB0F-166C-14FEDA7005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B88AEF72-50CD-C201-F6BF-C595BBBED8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83AC5909-1273-6451-3B6E-5CC9FC0C13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115" y="2933565"/>
            <a:ext cx="9717056" cy="347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4202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C731E-3EF4-6B15-8DFC-4C28AC955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Budget and Staffing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CA7ED9-FB92-8257-0953-4FE21486AB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398" y="2355448"/>
            <a:ext cx="5524429" cy="3570441"/>
          </a:xfrm>
          <a:prstGeom prst="rect">
            <a:avLst/>
          </a:prstGeom>
        </p:spPr>
      </p:pic>
      <p:graphicFrame>
        <p:nvGraphicFramePr>
          <p:cNvPr id="7" name="TextBox 4">
            <a:extLst>
              <a:ext uri="{FF2B5EF4-FFF2-40B4-BE49-F238E27FC236}">
                <a16:creationId xmlns:a16="http://schemas.microsoft.com/office/drawing/2014/main" id="{C75925ED-CA68-C023-0D37-3ECDDC0FCB6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59025455"/>
              </p:ext>
            </p:extLst>
          </p:nvPr>
        </p:nvGraphicFramePr>
        <p:xfrm>
          <a:off x="7103059" y="1404518"/>
          <a:ext cx="4791456" cy="45866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515377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0D4932-5E85-77F6-E87D-4D85ADDFD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AAE94E3-A7DB-4868-B1E3-E49703488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B305A0-E4E0-0FD1-D0BB-84CF3A6A1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5279408" cy="1128068"/>
          </a:xfrm>
        </p:spPr>
        <p:txBody>
          <a:bodyPr anchor="ctr">
            <a:normAutofit fontScale="90000"/>
          </a:bodyPr>
          <a:lstStyle/>
          <a:p>
            <a:r>
              <a:rPr lang="en-US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Recommendation-Intervention Funding Allocation</a:t>
            </a:r>
            <a:br>
              <a:rPr lang="en-US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123821"/>
            <a:ext cx="4975066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01EE3-9850-904E-06D5-64A6C67A13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5278066" cy="3979585"/>
          </a:xfrm>
        </p:spPr>
        <p:txBody>
          <a:bodyPr anchor="ctr">
            <a:norm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Allocate Title I and LCFF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students in need.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Title I and LCFF intervention funding is not distributed proportionally to student need. 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Granite Elementary (368 students in need) receives $303K, while Cedar Elementary (305 students in need) receives $611K.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Funding per student in need ranges from $625 to $2,005, indicating substantial variation across schools. 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consistent funding per student in need across schools while maintaining the existing district budget.</a:t>
            </a:r>
          </a:p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Allocate intervention funding using a standardized need-based formula tied to EL and/or SED student counts.</a:t>
            </a:r>
          </a:p>
          <a:p>
            <a:endParaRPr lang="en-US" sz="16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7447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9921C3-D954-8553-ABAD-52611B6CD7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1738" y="356813"/>
            <a:ext cx="4920633" cy="2924222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8CB5D2D7-DF65-4E86-BFBA-FFB9B5ACE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05479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DC5082-EED8-9830-DF94-2915ED6B86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9686" y="3504843"/>
            <a:ext cx="4845489" cy="2842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9866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Background">
            <a:extLst>
              <a:ext uri="{FF2B5EF4-FFF2-40B4-BE49-F238E27FC236}">
                <a16:creationId xmlns:a16="http://schemas.microsoft.com/office/drawing/2014/main" id="{90D0877E-6CD0-4206-8A18-56CEE73EFB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E18AC0D4-F32D-4067-9F63-E553F4AFF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2806021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BA6F97-CDC1-A91D-569D-64F7EDADE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2" y="342306"/>
            <a:ext cx="4703816" cy="212140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4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Recommendation-Professional Development</a:t>
            </a:r>
            <a:br>
              <a:rPr lang="en-US" sz="3400" b="1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4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604A12-C379-5928-B76D-7616FBFF2612}"/>
              </a:ext>
            </a:extLst>
          </p:cNvPr>
          <p:cNvSpPr txBox="1"/>
          <p:nvPr/>
        </p:nvSpPr>
        <p:spPr>
          <a:xfrm>
            <a:off x="5018227" y="342307"/>
            <a:ext cx="6751929" cy="24008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with better attendance achieve higher ELA and Math scores (r = -0.52).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Teacher turnover was significantly associated with increased chronic absenteeism (r = 0.65, p = 0.023), suggesting staffing instability contributes to lower student engagement.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Professional Development spending is the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statistically significant budget lever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reducing turnover (r = -0.59, p = 0.043).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highest-turnover schools invested the least in Professional Development: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Hawthorn Elementary: $126/student → 24% turnover 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Cedar Elementary: $162/student → 24% turnover 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Junction Middle School: $145/student → 23% turnover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Recommendation: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Prioritize Professional Development funding at high-turnover schools to improve staff retention, reduce absenteeism, and support higher student achievement.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4C573D-1B3E-B4D9-3E25-1C2411BB2D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524" y="3190068"/>
            <a:ext cx="9101678" cy="3481393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4135024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D9BF3C-3810-7216-54F0-53F76D397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B1DA1FDD-A66D-DC93-7E70-27107F0FA8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9217" y="-1"/>
            <a:ext cx="5213267" cy="6883030"/>
            <a:chOff x="-19217" y="-1"/>
            <a:chExt cx="5213267" cy="688303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D8B728B-B37F-4757-4768-1929AC33F6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06" y="0"/>
              <a:ext cx="5204956" cy="688302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29E3FB9-AF35-BCD8-20EF-F63A3DD530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-19217" y="1731909"/>
              <a:ext cx="5204963" cy="51444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3F25947-C605-FB76-5AD1-D16F448B96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10" y="6723"/>
              <a:ext cx="3834567" cy="6876300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lumMod val="60000"/>
                    <a:lumOff val="40000"/>
                    <a:alpha val="78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DC0AE5B-E097-6F34-7C17-A986B605D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844601" y="833689"/>
              <a:ext cx="6872341" cy="5204961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8EBEF4B-D374-90F3-DFCB-B8894CFE80FF}"/>
              </a:ext>
            </a:extLst>
          </p:cNvPr>
          <p:cNvSpPr txBox="1"/>
          <p:nvPr/>
        </p:nvSpPr>
        <p:spPr>
          <a:xfrm>
            <a:off x="5636653" y="594248"/>
            <a:ext cx="6555347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Limitations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school-level sample (24–168 observations) </a:t>
            </a:r>
          </a:p>
          <a:p>
            <a:pPr marL="17145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budget variation (95.24% spend rate) </a:t>
            </a:r>
          </a:p>
          <a:p>
            <a:pPr marL="17145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2 years of staffing and budget data </a:t>
            </a:r>
          </a:p>
          <a:p>
            <a:pPr marL="17145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EL% and Free Lunch% collinearity (r = .96) </a:t>
            </a:r>
          </a:p>
          <a:p>
            <a:pPr marL="1714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attendance data was the strongest dataset (7,535 records) </a:t>
            </a:r>
          </a:p>
          <a:p>
            <a:pPr marL="17145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Cautions</a:t>
            </a:r>
          </a:p>
          <a:p>
            <a:pPr marL="1714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≠ causation</a:t>
            </a:r>
          </a:p>
          <a:p>
            <a:pPr marL="1714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Funding alone does not explain achievement </a:t>
            </a:r>
          </a:p>
          <a:p>
            <a:pPr marL="1714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Turnover does not necessarily cause absenteeism </a:t>
            </a:r>
          </a:p>
          <a:p>
            <a:pPr marL="1714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Findings should guide investigation, not decisions </a:t>
            </a:r>
          </a:p>
          <a:p>
            <a:pPr marL="1714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 Data</a:t>
            </a:r>
          </a:p>
          <a:p>
            <a:pPr marL="1714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Student-level assessment data</a:t>
            </a:r>
          </a:p>
          <a:p>
            <a:pPr marL="1714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Teacher experience, credentials, and retention</a:t>
            </a:r>
          </a:p>
          <a:p>
            <a:pPr marL="1714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 participation data </a:t>
            </a:r>
          </a:p>
          <a:p>
            <a:pPr marL="1714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childhood education data</a:t>
            </a:r>
          </a:p>
          <a:p>
            <a:pPr marL="1714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 years of staffing and budget history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7E2A206-A798-E12E-3193-20BAEA337CAE}"/>
              </a:ext>
            </a:extLst>
          </p:cNvPr>
          <p:cNvSpPr txBox="1">
            <a:spLocks/>
          </p:cNvSpPr>
          <p:nvPr/>
        </p:nvSpPr>
        <p:spPr>
          <a:xfrm>
            <a:off x="731974" y="1831508"/>
            <a:ext cx="3702580" cy="24118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Limitations, Cautions &amp; Future Research</a:t>
            </a:r>
            <a:br>
              <a:rPr lang="en-US" sz="3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64220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36FCC4-573B-FFC8-2936-AFAB69D81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E8FC34AE-6177-0DB9-0D64-56704A0598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9217" y="-1"/>
            <a:ext cx="5213267" cy="6883030"/>
            <a:chOff x="-19217" y="-1"/>
            <a:chExt cx="5213267" cy="688303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C335744-2634-5B25-757E-27E53EE488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06" y="0"/>
              <a:ext cx="5204956" cy="688302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573CEAB-1A18-5EA7-8A43-A5205F2F99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-19217" y="1731909"/>
              <a:ext cx="5204963" cy="51444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91D7731-FAA2-73E5-A306-F6926C2D4A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10" y="6723"/>
              <a:ext cx="3834567" cy="6876300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lumMod val="60000"/>
                    <a:lumOff val="40000"/>
                    <a:alpha val="78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E3B5CDE-C1BC-D20C-B724-A3E14F7D1D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844601" y="833689"/>
              <a:ext cx="6872341" cy="5204961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12C6F5BA-BA81-F4D5-257F-41A522D29A39}"/>
              </a:ext>
            </a:extLst>
          </p:cNvPr>
          <p:cNvSpPr txBox="1"/>
          <p:nvPr/>
        </p:nvSpPr>
        <p:spPr>
          <a:xfrm>
            <a:off x="5490016" y="526428"/>
            <a:ext cx="6555347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Superintendent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the dashboard for a district-wide overview.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schools with low performance, high absenteeism, or staffing challenges.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Prioritizes resource allocation and intervention efforts. </a:t>
            </a:r>
          </a:p>
          <a:p>
            <a:pPr marL="57150">
              <a:lnSpc>
                <a:spcPct val="90000"/>
              </a:lnSpc>
              <a:spcAft>
                <a:spcPts val="600"/>
              </a:spcAft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Site Principal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Filters to their school and compares performance against district averages.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Reviews subgroup achievement, D/F rates, attendance, and staffing indicators.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areas requiring targeted support. </a:t>
            </a:r>
          </a:p>
          <a:p>
            <a:pPr marL="57150">
              <a:lnSpc>
                <a:spcPct val="90000"/>
              </a:lnSpc>
              <a:spcAft>
                <a:spcPts val="600"/>
              </a:spcAft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HR / Business Services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Monitors teacher turnover, vacancies, and funding allocation. Evaluates whether staffing and intervention resources are aligned with student needs.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budgeting and workforce planning decisions.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Link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https://public.tableau.com/views/tabschool/Dashboard1?:language=en-US&amp;publish=yes&amp;:sid=&amp;:redirect=auth&amp;:display_count=n&amp;:origin=viz_share_link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DC5D8EA-F638-AD28-309A-93CD570EC175}"/>
              </a:ext>
            </a:extLst>
          </p:cNvPr>
          <p:cNvSpPr txBox="1">
            <a:spLocks/>
          </p:cNvSpPr>
          <p:nvPr/>
        </p:nvSpPr>
        <p:spPr>
          <a:xfrm>
            <a:off x="1153620" y="2029785"/>
            <a:ext cx="2957703" cy="148513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 End Users</a:t>
            </a:r>
          </a:p>
        </p:txBody>
      </p:sp>
    </p:spTree>
    <p:extLst>
      <p:ext uri="{BB962C8B-B14F-4D97-AF65-F5344CB8AC3E}">
        <p14:creationId xmlns:p14="http://schemas.microsoft.com/office/powerpoint/2010/main" val="2798884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1455</TotalTime>
  <Words>1022</Words>
  <Application>Microsoft Office PowerPoint</Application>
  <PresentationFormat>Widescreen</PresentationFormat>
  <Paragraphs>114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Times New Roman</vt:lpstr>
      <vt:lpstr>Office Theme</vt:lpstr>
      <vt:lpstr>Pinehill Unified School District Analysis and  Recommendation </vt:lpstr>
      <vt:lpstr>Approach to Analysis </vt:lpstr>
      <vt:lpstr>Data Cleaning &amp; Validation</vt:lpstr>
      <vt:lpstr>Exploratory Analysis</vt:lpstr>
      <vt:lpstr>Student Demographics &amp; Attendance</vt:lpstr>
      <vt:lpstr>Demographic &amp; Attendance Relationships</vt:lpstr>
      <vt:lpstr>Budget and Staffing</vt:lpstr>
      <vt:lpstr>Recommendation-Intervention Funding Allocation </vt:lpstr>
      <vt:lpstr>Recommendation-Professional Development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jared oberg</dc:creator>
  <cp:lastModifiedBy>jared oberg</cp:lastModifiedBy>
  <cp:revision>9</cp:revision>
  <dcterms:created xsi:type="dcterms:W3CDTF">2026-06-07T21:46:07Z</dcterms:created>
  <dcterms:modified xsi:type="dcterms:W3CDTF">2026-07-01T23:38:11Z</dcterms:modified>
</cp:coreProperties>
</file>